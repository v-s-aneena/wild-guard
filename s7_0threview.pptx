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A41299-EFBE-47F6-B20A-A8641A39822E}">
  <a:tblStyle styleId="{F9A41299-EFBE-47F6-B20A-A8641A3982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txBox="1"/>
          <p:nvPr/>
        </p:nvSpPr>
        <p:spPr>
          <a:xfrm>
            <a:off x="3884760" y="8685360"/>
            <a:ext cx="2971440" cy="45684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800" u="none" cap="none" strike="noStrike">
              <a:solidFill>
                <a:schemeClr val="dk1"/>
              </a:solidFill>
              <a:latin typeface="Arial"/>
              <a:ea typeface="Arial"/>
              <a:cs typeface="Arial"/>
              <a:sym typeface="Arial"/>
            </a:endParaRPr>
          </a:p>
        </p:txBody>
      </p:sp>
      <p:sp>
        <p:nvSpPr>
          <p:cNvPr id="70" name="Google Shape;70;p1:notes"/>
          <p:cNvSpPr/>
          <p:nvPr/>
        </p:nvSpPr>
        <p:spPr>
          <a:xfrm>
            <a:off x="0" y="0"/>
            <a:ext cx="1080" cy="1080"/>
          </a:xfrm>
          <a:prstGeom prst="rect">
            <a:avLst/>
          </a:prstGeom>
          <a:noFill/>
          <a:ln>
            <a:noFill/>
          </a:ln>
        </p:spPr>
        <p:txBody>
          <a:bodyPr anchorCtr="0" anchor="t" bIns="39600" lIns="78825" spcFirstLastPara="1" rIns="78825" wrap="square" tIns="396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800" u="none" cap="none" strike="noStrike">
              <a:solidFill>
                <a:schemeClr val="dk1"/>
              </a:solidFill>
              <a:latin typeface="Arial"/>
              <a:ea typeface="Arial"/>
              <a:cs typeface="Arial"/>
              <a:sym typeface="Arial"/>
            </a:endParaRPr>
          </a:p>
        </p:txBody>
      </p:sp>
      <p:sp>
        <p:nvSpPr>
          <p:cNvPr id="71" name="Google Shape;71;p1:notes"/>
          <p:cNvSpPr/>
          <p:nvPr/>
        </p:nvSpPr>
        <p:spPr>
          <a:xfrm>
            <a:off x="3881520" y="8685360"/>
            <a:ext cx="2968200" cy="450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800" u="none" cap="none" strike="noStrike">
              <a:solidFill>
                <a:schemeClr val="dk1"/>
              </a:solidFill>
              <a:latin typeface="Arial"/>
              <a:ea typeface="Arial"/>
              <a:cs typeface="Arial"/>
              <a:sym typeface="Arial"/>
            </a:endParaRPr>
          </a:p>
        </p:txBody>
      </p:sp>
      <p:sp>
        <p:nvSpPr>
          <p:cNvPr id="72" name="Google Shape;72;p1:notes"/>
          <p:cNvSpPr/>
          <p:nvPr/>
        </p:nvSpPr>
        <p:spPr>
          <a:xfrm>
            <a:off x="3881520" y="8685360"/>
            <a:ext cx="2970000" cy="4521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800" u="none" cap="none" strike="noStrike">
              <a:solidFill>
                <a:schemeClr val="dk1"/>
              </a:solidFill>
              <a:latin typeface="Arial"/>
              <a:ea typeface="Arial"/>
              <a:cs typeface="Arial"/>
              <a:sym typeface="Arial"/>
            </a:endParaRPr>
          </a:p>
        </p:txBody>
      </p:sp>
      <p:sp>
        <p:nvSpPr>
          <p:cNvPr id="73" name="Google Shape;73;p1:notes"/>
          <p:cNvSpPr txBox="1"/>
          <p:nvPr>
            <p:ph idx="1" type="body"/>
          </p:nvPr>
        </p:nvSpPr>
        <p:spPr>
          <a:xfrm>
            <a:off x="685800" y="4343400"/>
            <a:ext cx="5486040" cy="411444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100"/>
              <a:buNone/>
            </a:pPr>
            <a:r>
              <a:t/>
            </a:r>
            <a:endParaRPr/>
          </a:p>
        </p:txBody>
      </p:sp>
      <p:sp>
        <p:nvSpPr>
          <p:cNvPr id="74" name="Google Shape;74;p1:notes"/>
          <p:cNvSpPr txBox="1"/>
          <p:nvPr>
            <p:ph idx="10" type="dt"/>
          </p:nvPr>
        </p:nvSpPr>
        <p:spPr>
          <a:xfrm>
            <a:off x="4279320" y="0"/>
            <a:ext cx="3280320" cy="5342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6/12/2022</a:t>
            </a:r>
            <a:endParaRPr b="0" i="0" sz="1400" u="none" cap="none" strike="noStrike">
              <a:solidFill>
                <a:srgbClr val="000000"/>
              </a:solidFill>
              <a:latin typeface="Arial"/>
              <a:ea typeface="Arial"/>
              <a:cs typeface="Arial"/>
              <a:sym typeface="Arial"/>
            </a:endParaRPr>
          </a:p>
        </p:txBody>
      </p:sp>
      <p:sp>
        <p:nvSpPr>
          <p:cNvPr id="75" name="Google Shape;7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098a96d29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7098a96d2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098a96d29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098a96d2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098a96d29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7098a96d2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098a96d29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7098a96d2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098a96d29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7098a96d2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098a96d29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7098a96d2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0b8d2810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0b8d281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098a96d2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7098a96d2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098a96d29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098a96d2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098a96d29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7098a96d2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70bc38e32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70bc38e32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098a96d2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7098a96d2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7098a96d2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7098a96d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2" name="Shape 12"/>
        <p:cNvGrpSpPr/>
        <p:nvPr/>
      </p:nvGrpSpPr>
      <p:grpSpPr>
        <a:xfrm>
          <a:off x="0" y="0"/>
          <a:ext cx="0" cy="0"/>
          <a:chOff x="0" y="0"/>
          <a:chExt cx="0" cy="0"/>
        </a:xfrm>
      </p:grpSpPr>
      <p:sp>
        <p:nvSpPr>
          <p:cNvPr id="13" name="Google Shape;13;p2"/>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body"/>
          </p:nvPr>
        </p:nvSpPr>
        <p:spPr>
          <a:xfrm>
            <a:off x="457200" y="1600200"/>
            <a:ext cx="40154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2"/>
          <p:cNvSpPr txBox="1"/>
          <p:nvPr>
            <p:ph idx="2" type="body"/>
          </p:nvPr>
        </p:nvSpPr>
        <p:spPr>
          <a:xfrm>
            <a:off x="467352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2"/>
          <p:cNvSpPr txBox="1"/>
          <p:nvPr>
            <p:ph idx="3" type="body"/>
          </p:nvPr>
        </p:nvSpPr>
        <p:spPr>
          <a:xfrm>
            <a:off x="4673520" y="39636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 type="subTitle"/>
          </p:nvPr>
        </p:nvSpPr>
        <p:spPr>
          <a:xfrm>
            <a:off x="457200" y="1600200"/>
            <a:ext cx="8229240" cy="45259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5" name="Google Shape;25;p4"/>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6" name="Shape 26"/>
        <p:cNvGrpSpPr/>
        <p:nvPr/>
      </p:nvGrpSpPr>
      <p:grpSpPr>
        <a:xfrm>
          <a:off x="0" y="0"/>
          <a:ext cx="0" cy="0"/>
          <a:chOff x="0" y="0"/>
          <a:chExt cx="0" cy="0"/>
        </a:xfrm>
      </p:grpSpPr>
      <p:sp>
        <p:nvSpPr>
          <p:cNvPr id="27" name="Google Shape;27;p5"/>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 name="Shape 28"/>
        <p:cNvGrpSpPr/>
        <p:nvPr/>
      </p:nvGrpSpPr>
      <p:grpSpPr>
        <a:xfrm>
          <a:off x="0" y="0"/>
          <a:ext cx="0" cy="0"/>
          <a:chOff x="0" y="0"/>
          <a:chExt cx="0" cy="0"/>
        </a:xfrm>
      </p:grpSpPr>
      <p:sp>
        <p:nvSpPr>
          <p:cNvPr id="29" name="Google Shape;29;p6"/>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
          <p:cNvSpPr txBox="1"/>
          <p:nvPr>
            <p:ph idx="1" type="body"/>
          </p:nvPr>
        </p:nvSpPr>
        <p:spPr>
          <a:xfrm>
            <a:off x="457200" y="1600200"/>
            <a:ext cx="40154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6"/>
          <p:cNvSpPr txBox="1"/>
          <p:nvPr>
            <p:ph idx="2" type="body"/>
          </p:nvPr>
        </p:nvSpPr>
        <p:spPr>
          <a:xfrm>
            <a:off x="4673520" y="1600200"/>
            <a:ext cx="40154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7"/>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6" name="Shape 36"/>
        <p:cNvGrpSpPr/>
        <p:nvPr/>
      </p:nvGrpSpPr>
      <p:grpSpPr>
        <a:xfrm>
          <a:off x="0" y="0"/>
          <a:ext cx="0" cy="0"/>
          <a:chOff x="0" y="0"/>
          <a:chExt cx="0" cy="0"/>
        </a:xfrm>
      </p:grpSpPr>
      <p:sp>
        <p:nvSpPr>
          <p:cNvPr id="37" name="Google Shape;37;p8"/>
          <p:cNvSpPr txBox="1"/>
          <p:nvPr>
            <p:ph idx="1" type="subTitle"/>
          </p:nvPr>
        </p:nvSpPr>
        <p:spPr>
          <a:xfrm>
            <a:off x="457200" y="274680"/>
            <a:ext cx="8229240" cy="58510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38" name="Google Shape;38;p8"/>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9" name="Shape 39"/>
        <p:cNvGrpSpPr/>
        <p:nvPr/>
      </p:nvGrpSpPr>
      <p:grpSpPr>
        <a:xfrm>
          <a:off x="0" y="0"/>
          <a:ext cx="0" cy="0"/>
          <a:chOff x="0" y="0"/>
          <a:chExt cx="0" cy="0"/>
        </a:xfrm>
      </p:grpSpPr>
      <p:sp>
        <p:nvSpPr>
          <p:cNvPr id="40" name="Google Shape;40;p9"/>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
          <p:cNvSpPr txBox="1"/>
          <p:nvPr>
            <p:ph idx="1" type="body"/>
          </p:nvPr>
        </p:nvSpPr>
        <p:spPr>
          <a:xfrm>
            <a:off x="45720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2" type="body"/>
          </p:nvPr>
        </p:nvSpPr>
        <p:spPr>
          <a:xfrm>
            <a:off x="457200" y="39636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9"/>
          <p:cNvSpPr txBox="1"/>
          <p:nvPr>
            <p:ph idx="3" type="body"/>
          </p:nvPr>
        </p:nvSpPr>
        <p:spPr>
          <a:xfrm>
            <a:off x="4673520" y="1600200"/>
            <a:ext cx="40154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5" name="Shape 45"/>
        <p:cNvGrpSpPr/>
        <p:nvPr/>
      </p:nvGrpSpPr>
      <p:grpSpPr>
        <a:xfrm>
          <a:off x="0" y="0"/>
          <a:ext cx="0" cy="0"/>
          <a:chOff x="0" y="0"/>
          <a:chExt cx="0" cy="0"/>
        </a:xfrm>
      </p:grpSpPr>
      <p:sp>
        <p:nvSpPr>
          <p:cNvPr id="46" name="Google Shape;46;p10"/>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 type="body"/>
          </p:nvPr>
        </p:nvSpPr>
        <p:spPr>
          <a:xfrm>
            <a:off x="45720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0"/>
          <p:cNvSpPr txBox="1"/>
          <p:nvPr>
            <p:ph idx="2" type="body"/>
          </p:nvPr>
        </p:nvSpPr>
        <p:spPr>
          <a:xfrm>
            <a:off x="467352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0"/>
          <p:cNvSpPr txBox="1"/>
          <p:nvPr>
            <p:ph idx="3" type="body"/>
          </p:nvPr>
        </p:nvSpPr>
        <p:spPr>
          <a:xfrm>
            <a:off x="457200" y="3963600"/>
            <a:ext cx="822852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0"/>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1" name="Shape 51"/>
        <p:cNvGrpSpPr/>
        <p:nvPr/>
      </p:nvGrpSpPr>
      <p:grpSpPr>
        <a:xfrm>
          <a:off x="0" y="0"/>
          <a:ext cx="0" cy="0"/>
          <a:chOff x="0" y="0"/>
          <a:chExt cx="0" cy="0"/>
        </a:xfrm>
      </p:grpSpPr>
      <p:sp>
        <p:nvSpPr>
          <p:cNvPr id="52" name="Google Shape;52;p11"/>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 type="body"/>
          </p:nvPr>
        </p:nvSpPr>
        <p:spPr>
          <a:xfrm>
            <a:off x="457200" y="1600200"/>
            <a:ext cx="82292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1"/>
          <p:cNvSpPr txBox="1"/>
          <p:nvPr>
            <p:ph idx="2" type="body"/>
          </p:nvPr>
        </p:nvSpPr>
        <p:spPr>
          <a:xfrm>
            <a:off x="457200" y="3963600"/>
            <a:ext cx="82292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1"/>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6" name="Shape 56"/>
        <p:cNvGrpSpPr/>
        <p:nvPr/>
      </p:nvGrpSpPr>
      <p:grpSpPr>
        <a:xfrm>
          <a:off x="0" y="0"/>
          <a:ext cx="0" cy="0"/>
          <a:chOff x="0" y="0"/>
          <a:chExt cx="0" cy="0"/>
        </a:xfrm>
      </p:grpSpPr>
      <p:sp>
        <p:nvSpPr>
          <p:cNvPr id="57" name="Google Shape;57;p12"/>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2"/>
          <p:cNvSpPr txBox="1"/>
          <p:nvPr>
            <p:ph idx="1" type="body"/>
          </p:nvPr>
        </p:nvSpPr>
        <p:spPr>
          <a:xfrm>
            <a:off x="45720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2"/>
          <p:cNvSpPr txBox="1"/>
          <p:nvPr>
            <p:ph idx="2" type="body"/>
          </p:nvPr>
        </p:nvSpPr>
        <p:spPr>
          <a:xfrm>
            <a:off x="467352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2"/>
          <p:cNvSpPr txBox="1"/>
          <p:nvPr>
            <p:ph idx="3" type="body"/>
          </p:nvPr>
        </p:nvSpPr>
        <p:spPr>
          <a:xfrm>
            <a:off x="4673520" y="39636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2"/>
          <p:cNvSpPr txBox="1"/>
          <p:nvPr>
            <p:ph idx="4" type="body"/>
          </p:nvPr>
        </p:nvSpPr>
        <p:spPr>
          <a:xfrm>
            <a:off x="457200" y="39636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2"/>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63" name="Shape 63"/>
        <p:cNvGrpSpPr/>
        <p:nvPr/>
      </p:nvGrpSpPr>
      <p:grpSpPr>
        <a:xfrm>
          <a:off x="0" y="0"/>
          <a:ext cx="0" cy="0"/>
          <a:chOff x="0" y="0"/>
          <a:chExt cx="0" cy="0"/>
        </a:xfrm>
      </p:grpSpPr>
      <p:sp>
        <p:nvSpPr>
          <p:cNvPr id="64" name="Google Shape;64;p13"/>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3"/>
          <p:cNvSpPr txBox="1"/>
          <p:nvPr>
            <p:ph idx="1" type="body"/>
          </p:nvPr>
        </p:nvSpPr>
        <p:spPr>
          <a:xfrm>
            <a:off x="45720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3"/>
          <p:cNvSpPr txBox="1"/>
          <p:nvPr>
            <p:ph idx="2" type="body"/>
          </p:nvPr>
        </p:nvSpPr>
        <p:spPr>
          <a:xfrm>
            <a:off x="4673520" y="1600200"/>
            <a:ext cx="4015440" cy="2158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3"/>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85800" y="2130480"/>
            <a:ext cx="7772040" cy="14695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8B8B8B"/>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sz="1800">
              <a:solidFill>
                <a:schemeClr val="dk1"/>
              </a:solidFill>
              <a:latin typeface="Arial"/>
              <a:ea typeface="Arial"/>
              <a:cs typeface="Arial"/>
              <a:sym typeface="Arial"/>
            </a:endParaRPr>
          </a:p>
        </p:txBody>
      </p:sp>
      <p:sp>
        <p:nvSpPr>
          <p:cNvPr id="10" name="Google Shape;10;p1"/>
          <p:cNvSpPr txBox="1"/>
          <p:nvPr>
            <p:ph idx="1" type="body"/>
          </p:nvPr>
        </p:nvSpPr>
        <p:spPr>
          <a:xfrm>
            <a:off x="457200" y="1604520"/>
            <a:ext cx="8229240" cy="397692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11" name="Google Shape;11;p1"/>
          <p:cNvPicPr preferRelativeResize="0"/>
          <p:nvPr/>
        </p:nvPicPr>
        <p:blipFill rotWithShape="1">
          <a:blip r:embed="rId1">
            <a:alphaModFix/>
          </a:blip>
          <a:srcRect b="0" l="0" r="0" t="0"/>
          <a:stretch/>
        </p:blipFill>
        <p:spPr>
          <a:xfrm>
            <a:off x="0" y="0"/>
            <a:ext cx="9144003" cy="16002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macaulaylibrary.org/" TargetMode="External"/><Relationship Id="rId4" Type="http://schemas.openxmlformats.org/officeDocument/2006/relationships/hyperlink" Target="https://www.elephantvoices.org/multimedia-resources/elephantvoices-sound-library.html" TargetMode="External"/><Relationship Id="rId5" Type="http://schemas.openxmlformats.org/officeDocument/2006/relationships/hyperlink" Target="https://sound-effects.bbcrewind.co.uk/search?q=wild+boar" TargetMode="External"/><Relationship Id="rId6" Type="http://schemas.openxmlformats.org/officeDocument/2006/relationships/hyperlink" Target="https://research.google.com/audioset/ontology/gunshot.html" TargetMode="External"/><Relationship Id="rId7" Type="http://schemas.openxmlformats.org/officeDocument/2006/relationships/hyperlink" Target="https://freesound.org/search/?q=chainsaw" TargetMode="External"/><Relationship Id="rId8" Type="http://schemas.openxmlformats.org/officeDocument/2006/relationships/hyperlink" Target="https://commonvoice.mozilla.org/en/dataset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p:nvPr/>
        </p:nvSpPr>
        <p:spPr>
          <a:xfrm>
            <a:off x="417275" y="2418850"/>
            <a:ext cx="8476500" cy="4584900"/>
          </a:xfrm>
          <a:prstGeom prst="rect">
            <a:avLst/>
          </a:prstGeom>
          <a:noFill/>
          <a:ln>
            <a:noFill/>
          </a:ln>
        </p:spPr>
        <p:txBody>
          <a:bodyPr anchorCtr="0" anchor="ctr" bIns="91425" lIns="91425" spcFirstLastPara="1" rIns="91425" wrap="square" tIns="91425">
            <a:noAutofit/>
          </a:bodyPr>
          <a:lstStyle/>
          <a:p>
            <a:pPr indent="0" lvl="0" marL="114300" rtl="0" algn="l">
              <a:lnSpc>
                <a:spcPct val="115000"/>
              </a:lnSpc>
              <a:spcBef>
                <a:spcPts val="10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Group Members:                                                           </a:t>
            </a:r>
            <a:endParaRPr b="1" sz="1800">
              <a:solidFill>
                <a:schemeClr val="dk1"/>
              </a:solidFill>
              <a:latin typeface="Times New Roman"/>
              <a:ea typeface="Times New Roman"/>
              <a:cs typeface="Times New Roman"/>
              <a:sym typeface="Times New Roman"/>
            </a:endParaRPr>
          </a:p>
          <a:p>
            <a:pPr indent="0" lvl="0" marL="114300" rtl="0" algn="l">
              <a:lnSpc>
                <a:spcPct val="115000"/>
              </a:lnSpc>
              <a:spcBef>
                <a:spcPts val="10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         	Ajith K                                                             Guide:</a:t>
            </a:r>
            <a:endParaRPr b="1" sz="1800">
              <a:solidFill>
                <a:schemeClr val="dk1"/>
              </a:solidFill>
              <a:latin typeface="Times New Roman"/>
              <a:ea typeface="Times New Roman"/>
              <a:cs typeface="Times New Roman"/>
              <a:sym typeface="Times New Roman"/>
            </a:endParaRPr>
          </a:p>
          <a:p>
            <a:pPr indent="0" lvl="0" marL="114300" rtl="0" algn="l">
              <a:lnSpc>
                <a:spcPct val="90000"/>
              </a:lnSpc>
              <a:spcBef>
                <a:spcPts val="10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              Riya Roy                                                          Dr Geethu Mary George</a:t>
            </a:r>
            <a:endParaRPr b="1" sz="1800">
              <a:solidFill>
                <a:schemeClr val="dk1"/>
              </a:solidFill>
              <a:latin typeface="Times New Roman"/>
              <a:ea typeface="Times New Roman"/>
              <a:cs typeface="Times New Roman"/>
              <a:sym typeface="Times New Roman"/>
            </a:endParaRPr>
          </a:p>
          <a:p>
            <a:pPr indent="0" lvl="0" marL="114300" rtl="0" algn="l">
              <a:lnSpc>
                <a:spcPct val="90000"/>
              </a:lnSpc>
              <a:spcBef>
                <a:spcPts val="10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              Shintu Damodharan                                       HOD , CSE(CyberSecurity)</a:t>
            </a:r>
            <a:endParaRPr b="1" sz="1800">
              <a:solidFill>
                <a:schemeClr val="dk1"/>
              </a:solidFill>
              <a:latin typeface="Times New Roman"/>
              <a:ea typeface="Times New Roman"/>
              <a:cs typeface="Times New Roman"/>
              <a:sym typeface="Times New Roman"/>
            </a:endParaRPr>
          </a:p>
          <a:p>
            <a:pPr indent="0" lvl="0" marL="114300" rtl="0" algn="l">
              <a:lnSpc>
                <a:spcPct val="115000"/>
              </a:lnSpc>
              <a:spcBef>
                <a:spcPts val="10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         	V S Aneena</a:t>
            </a:r>
            <a:endParaRPr b="1" sz="1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t> </a:t>
            </a:r>
            <a:endParaRPr/>
          </a:p>
        </p:txBody>
      </p:sp>
      <p:sp>
        <p:nvSpPr>
          <p:cNvPr id="78" name="Google Shape;78;p14"/>
          <p:cNvSpPr/>
          <p:nvPr/>
        </p:nvSpPr>
        <p:spPr>
          <a:xfrm>
            <a:off x="467475" y="1622000"/>
            <a:ext cx="8476500" cy="1270800"/>
          </a:xfrm>
          <a:prstGeom prst="rect">
            <a:avLst/>
          </a:prstGeom>
          <a:noFill/>
          <a:ln>
            <a:noFill/>
          </a:ln>
        </p:spPr>
        <p:txBody>
          <a:bodyPr anchorCtr="0" anchor="ctr" bIns="0" lIns="0" spcFirstLastPara="1" rIns="0" wrap="square" tIns="25550">
            <a:noAutofit/>
          </a:bodyPr>
          <a:lstStyle/>
          <a:p>
            <a:pPr indent="0" lvl="0" marL="0" marR="0" rtl="0" algn="ctr">
              <a:lnSpc>
                <a:spcPct val="100000"/>
              </a:lnSpc>
              <a:spcBef>
                <a:spcPts val="0"/>
              </a:spcBef>
              <a:spcAft>
                <a:spcPts val="0"/>
              </a:spcAft>
              <a:buClr>
                <a:srgbClr val="000000"/>
              </a:buClr>
              <a:buSzPts val="2900"/>
              <a:buFont typeface="Arial"/>
              <a:buNone/>
            </a:pPr>
            <a:r>
              <a:rPr b="0" i="0" lang="en-US" sz="2900" u="none" cap="none" strike="noStrike">
                <a:solidFill>
                  <a:srgbClr val="280099"/>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p:txBody>
      </p:sp>
      <p:sp>
        <p:nvSpPr>
          <p:cNvPr id="79" name="Google Shape;79;p14"/>
          <p:cNvSpPr/>
          <p:nvPr/>
        </p:nvSpPr>
        <p:spPr>
          <a:xfrm>
            <a:off x="131760" y="0"/>
            <a:ext cx="360" cy="1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4"/>
          <p:cNvSpPr/>
          <p:nvPr/>
        </p:nvSpPr>
        <p:spPr>
          <a:xfrm>
            <a:off x="195120" y="1306440"/>
            <a:ext cx="1080" cy="1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4"/>
          <p:cNvSpPr/>
          <p:nvPr/>
        </p:nvSpPr>
        <p:spPr>
          <a:xfrm>
            <a:off x="513360" y="1926710"/>
            <a:ext cx="7968900" cy="753600"/>
          </a:xfrm>
          <a:prstGeom prst="rect">
            <a:avLst/>
          </a:prstGeom>
          <a:noFill/>
          <a:ln>
            <a:noFill/>
          </a:ln>
        </p:spPr>
        <p:txBody>
          <a:bodyPr anchorCtr="0" anchor="t" bIns="41400" lIns="82800" spcFirstLastPara="1" rIns="82800" wrap="square" tIns="414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14"/>
          <p:cNvSpPr/>
          <p:nvPr/>
        </p:nvSpPr>
        <p:spPr>
          <a:xfrm>
            <a:off x="-3600" y="-102960"/>
            <a:ext cx="197280" cy="205200"/>
          </a:xfrm>
          <a:prstGeom prst="rect">
            <a:avLst/>
          </a:prstGeom>
          <a:noFill/>
          <a:ln>
            <a:noFill/>
          </a:ln>
        </p:spPr>
        <p:txBody>
          <a:bodyPr anchorCtr="0" anchor="ctr" bIns="41400" lIns="82800" spcFirstLastPara="1" rIns="82800" wrap="square" tIns="414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p:txBody>
      </p:sp>
      <p:sp>
        <p:nvSpPr>
          <p:cNvPr id="83" name="Google Shape;83;p14"/>
          <p:cNvSpPr txBox="1"/>
          <p:nvPr/>
        </p:nvSpPr>
        <p:spPr>
          <a:xfrm>
            <a:off x="6597325" y="6297527"/>
            <a:ext cx="2133360" cy="364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800" u="none" cap="none" strike="noStrike">
              <a:solidFill>
                <a:schemeClr val="dk1"/>
              </a:solidFill>
              <a:latin typeface="Arial"/>
              <a:ea typeface="Arial"/>
              <a:cs typeface="Arial"/>
              <a:sym typeface="Arial"/>
            </a:endParaRPr>
          </a:p>
        </p:txBody>
      </p:sp>
      <p:sp>
        <p:nvSpPr>
          <p:cNvPr id="84" name="Google Shape;84;p14"/>
          <p:cNvSpPr/>
          <p:nvPr/>
        </p:nvSpPr>
        <p:spPr>
          <a:xfrm>
            <a:off x="1905120" y="6324480"/>
            <a:ext cx="5409720" cy="3337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85" name="Google Shape;85;p14"/>
          <p:cNvSpPr txBox="1"/>
          <p:nvPr>
            <p:ph idx="1" type="body"/>
          </p:nvPr>
        </p:nvSpPr>
        <p:spPr>
          <a:xfrm>
            <a:off x="78725" y="1808900"/>
            <a:ext cx="8727000" cy="1083900"/>
          </a:xfrm>
          <a:prstGeom prst="rect">
            <a:avLst/>
          </a:prstGeom>
          <a:noFill/>
          <a:ln>
            <a:noFill/>
          </a:ln>
        </p:spPr>
        <p:txBody>
          <a:bodyPr anchorCtr="0" anchor="t" bIns="0" lIns="0" spcFirstLastPara="1" rIns="0" wrap="square" tIns="0">
            <a:noAutofit/>
          </a:bodyPr>
          <a:lstStyle/>
          <a:p>
            <a:pPr indent="0" lvl="0" marL="114300" rtl="0" algn="l">
              <a:lnSpc>
                <a:spcPct val="90000"/>
              </a:lnSpc>
              <a:spcBef>
                <a:spcPts val="1000"/>
              </a:spcBef>
              <a:spcAft>
                <a:spcPts val="0"/>
              </a:spcAft>
              <a:buSzPts val="1800"/>
              <a:buNone/>
            </a:pPr>
            <a:r>
              <a:rPr b="1" i="0" lang="en-US" sz="2800" u="none" cap="none" strike="noStrike">
                <a:solidFill>
                  <a:srgbClr val="C0504D"/>
                </a:solidFill>
                <a:latin typeface="Times New Roman"/>
                <a:ea typeface="Times New Roman"/>
                <a:cs typeface="Times New Roman"/>
                <a:sym typeface="Times New Roman"/>
              </a:rPr>
              <a:t>              </a:t>
            </a:r>
            <a:r>
              <a:rPr b="1" lang="en-US">
                <a:solidFill>
                  <a:srgbClr val="C0504D"/>
                </a:solidFill>
                <a:latin typeface="Times New Roman"/>
                <a:ea typeface="Times New Roman"/>
                <a:cs typeface="Times New Roman"/>
                <a:sym typeface="Times New Roman"/>
              </a:rPr>
              <a:t>Wild Sound : Wildlife Monitoring System </a:t>
            </a:r>
            <a:endParaRPr b="1">
              <a:solidFill>
                <a:srgbClr val="C0504D"/>
              </a:solidFill>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b="1" lang="en-US">
                <a:solidFill>
                  <a:srgbClr val="C0504D"/>
                </a:solidFill>
                <a:latin typeface="Times New Roman"/>
                <a:ea typeface="Times New Roman"/>
                <a:cs typeface="Times New Roman"/>
                <a:sym typeface="Times New Roman"/>
              </a:rPr>
              <a:t>                                      Using AI</a:t>
            </a:r>
            <a:endParaRPr b="1">
              <a:solidFill>
                <a:srgbClr val="C0504D"/>
              </a:solidFill>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a:solidFill>
                <a:srgbClr val="C0504D"/>
              </a:solidFill>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txBox="1"/>
          <p:nvPr>
            <p:ph idx="1" type="body"/>
          </p:nvPr>
        </p:nvSpPr>
        <p:spPr>
          <a:xfrm>
            <a:off x="113200" y="1663200"/>
            <a:ext cx="8887200" cy="5194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1000"/>
              </a:spcBef>
              <a:spcAft>
                <a:spcPts val="0"/>
              </a:spcAft>
              <a:buSzPts val="1800"/>
              <a:buNone/>
            </a:pPr>
            <a:r>
              <a:rPr lang="en-US">
                <a:latin typeface="Times New Roman"/>
                <a:ea typeface="Times New Roman"/>
                <a:cs typeface="Times New Roman"/>
                <a:sym typeface="Times New Roman"/>
              </a:rPr>
              <a:t>DEPARTMENT OF COMPUTER SCIENCE &amp;                 ENGINEERING</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SzPts val="1800"/>
              <a:buNone/>
            </a:pPr>
            <a:r>
              <a:rPr lang="en-US"/>
              <a:t> </a:t>
            </a:r>
            <a:r>
              <a:rPr lang="en-US" sz="2100">
                <a:latin typeface="Times New Roman"/>
                <a:ea typeface="Times New Roman"/>
                <a:cs typeface="Times New Roman"/>
                <a:sym typeface="Times New Roman"/>
              </a:rPr>
              <a:t>Vision of the Department</a:t>
            </a:r>
            <a:endParaRPr sz="21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700">
                <a:latin typeface="Times New Roman"/>
                <a:ea typeface="Times New Roman"/>
                <a:cs typeface="Times New Roman"/>
                <a:sym typeface="Times New Roman"/>
              </a:rPr>
              <a:t>C</a:t>
            </a:r>
            <a:r>
              <a:rPr lang="en-US" sz="1800">
                <a:latin typeface="Times New Roman"/>
                <a:ea typeface="Times New Roman"/>
                <a:cs typeface="Times New Roman"/>
                <a:sym typeface="Times New Roman"/>
              </a:rPr>
              <a:t>reating eminent and ethical leaders in the domain of Computational Sciences through quality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professional education with a focus on holistic learning and excellence.</a:t>
            </a:r>
            <a:endParaRPr sz="18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   </a:t>
            </a:r>
            <a:r>
              <a:rPr lang="en-US" sz="2100">
                <a:latin typeface="Times New Roman"/>
                <a:ea typeface="Times New Roman"/>
                <a:cs typeface="Times New Roman"/>
                <a:sym typeface="Times New Roman"/>
              </a:rPr>
              <a:t>Mission of the Department</a:t>
            </a:r>
            <a:endParaRPr sz="2100">
              <a:latin typeface="Times New Roman"/>
              <a:ea typeface="Times New Roman"/>
              <a:cs typeface="Times New Roman"/>
              <a:sym typeface="Times New Roman"/>
            </a:endParaRPr>
          </a:p>
          <a:p>
            <a:pPr indent="-336550" lvl="0" marL="457200" rtl="0" algn="l">
              <a:lnSpc>
                <a:spcPct val="90000"/>
              </a:lnSpc>
              <a:spcBef>
                <a:spcPts val="1000"/>
              </a:spcBef>
              <a:spcAft>
                <a:spcPts val="0"/>
              </a:spcAft>
              <a:buSzPts val="1700"/>
              <a:buFont typeface="Times New Roman"/>
              <a:buChar char="•"/>
            </a:pPr>
            <a:r>
              <a:rPr lang="en-US" sz="1700">
                <a:latin typeface="Times New Roman"/>
                <a:ea typeface="Times New Roman"/>
                <a:cs typeface="Times New Roman"/>
                <a:sym typeface="Times New Roman"/>
              </a:rPr>
              <a:t>To create technically competent and ethically conscious graduates in the field of Computer</a:t>
            </a:r>
            <a:endParaRPr sz="17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700">
                <a:latin typeface="Times New Roman"/>
                <a:ea typeface="Times New Roman"/>
                <a:cs typeface="Times New Roman"/>
                <a:sym typeface="Times New Roman"/>
              </a:rPr>
              <a:t>         Science and Engineering by encouraging holistic learning and excellence.</a:t>
            </a:r>
            <a:endParaRPr sz="1700">
              <a:latin typeface="Times New Roman"/>
              <a:ea typeface="Times New Roman"/>
              <a:cs typeface="Times New Roman"/>
              <a:sym typeface="Times New Roman"/>
            </a:endParaRPr>
          </a:p>
          <a:p>
            <a:pPr indent="-336550" lvl="0" marL="457200" rtl="0" algn="l">
              <a:lnSpc>
                <a:spcPct val="90000"/>
              </a:lnSpc>
              <a:spcBef>
                <a:spcPts val="1000"/>
              </a:spcBef>
              <a:spcAft>
                <a:spcPts val="0"/>
              </a:spcAft>
              <a:buSzPts val="1700"/>
              <a:buFont typeface="Times New Roman"/>
              <a:buChar char="•"/>
            </a:pPr>
            <a:r>
              <a:rPr lang="en-US" sz="1700">
                <a:latin typeface="Times New Roman"/>
                <a:ea typeface="Times New Roman"/>
                <a:cs typeface="Times New Roman"/>
                <a:sym typeface="Times New Roman"/>
              </a:rPr>
              <a:t>To prepare students for careers in Industry, Academia and the Government.</a:t>
            </a:r>
            <a:endParaRPr sz="1700">
              <a:latin typeface="Times New Roman"/>
              <a:ea typeface="Times New Roman"/>
              <a:cs typeface="Times New Roman"/>
              <a:sym typeface="Times New Roman"/>
            </a:endParaRPr>
          </a:p>
          <a:p>
            <a:pPr indent="-336550" lvl="0" marL="457200" rtl="0" algn="l">
              <a:lnSpc>
                <a:spcPct val="90000"/>
              </a:lnSpc>
              <a:spcBef>
                <a:spcPts val="0"/>
              </a:spcBef>
              <a:spcAft>
                <a:spcPts val="0"/>
              </a:spcAft>
              <a:buSzPts val="1700"/>
              <a:buFont typeface="Times New Roman"/>
              <a:buChar char="•"/>
            </a:pPr>
            <a:r>
              <a:rPr lang="en-US" sz="1700">
                <a:latin typeface="Times New Roman"/>
                <a:ea typeface="Times New Roman"/>
                <a:cs typeface="Times New Roman"/>
                <a:sym typeface="Times New Roman"/>
              </a:rPr>
              <a:t>To instill Entrepreneurial Orientation and research motivation among the students of the</a:t>
            </a:r>
            <a:endParaRPr sz="17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700">
                <a:latin typeface="Times New Roman"/>
                <a:ea typeface="Times New Roman"/>
                <a:cs typeface="Times New Roman"/>
                <a:sym typeface="Times New Roman"/>
              </a:rPr>
              <a:t>         department.</a:t>
            </a:r>
            <a:endParaRPr sz="1700">
              <a:latin typeface="Times New Roman"/>
              <a:ea typeface="Times New Roman"/>
              <a:cs typeface="Times New Roman"/>
              <a:sym typeface="Times New Roman"/>
            </a:endParaRPr>
          </a:p>
          <a:p>
            <a:pPr indent="-336550" lvl="0" marL="457200" rtl="0" algn="l">
              <a:lnSpc>
                <a:spcPct val="90000"/>
              </a:lnSpc>
              <a:spcBef>
                <a:spcPts val="1000"/>
              </a:spcBef>
              <a:spcAft>
                <a:spcPts val="0"/>
              </a:spcAft>
              <a:buSzPts val="1700"/>
              <a:buFont typeface="Times New Roman"/>
              <a:buChar char="•"/>
            </a:pPr>
            <a:r>
              <a:rPr lang="en-US" sz="1700">
                <a:latin typeface="Times New Roman"/>
                <a:ea typeface="Times New Roman"/>
                <a:cs typeface="Times New Roman"/>
                <a:sym typeface="Times New Roman"/>
              </a:rPr>
              <a:t>To emerge as a leader in education in the region by encouraging teaching, learning, industry</a:t>
            </a:r>
            <a:endParaRPr sz="17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700">
                <a:latin typeface="Times New Roman"/>
                <a:ea typeface="Times New Roman"/>
                <a:cs typeface="Times New Roman"/>
                <a:sym typeface="Times New Roman"/>
              </a:rPr>
              <a:t>         and societal connect.</a:t>
            </a:r>
            <a:endParaRPr sz="17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17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t/>
            </a:r>
            <a:endParaRPr sz="13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600">
              <a:latin typeface="Times New Roman"/>
              <a:ea typeface="Times New Roman"/>
              <a:cs typeface="Times New Roman"/>
              <a:sym typeface="Times New Roman"/>
            </a:endParaRPr>
          </a:p>
        </p:txBody>
      </p:sp>
      <p:sp>
        <p:nvSpPr>
          <p:cNvPr id="91" name="Google Shape;91;p15"/>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idx="1" type="body"/>
          </p:nvPr>
        </p:nvSpPr>
        <p:spPr>
          <a:xfrm>
            <a:off x="457200" y="1600200"/>
            <a:ext cx="8229300" cy="51537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1000"/>
              </a:spcBef>
              <a:spcAft>
                <a:spcPts val="0"/>
              </a:spcAft>
              <a:buClr>
                <a:schemeClr val="dk1"/>
              </a:buClr>
              <a:buSzPts val="1100"/>
              <a:buFont typeface="Arial"/>
              <a:buNone/>
            </a:pPr>
            <a:r>
              <a:rPr lang="en-US">
                <a:latin typeface="Times New Roman"/>
                <a:ea typeface="Times New Roman"/>
                <a:cs typeface="Times New Roman"/>
                <a:sym typeface="Times New Roman"/>
              </a:rPr>
              <a:t>Programme Educational Objectives (PEOs)</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1. The graduates shall have sound knowledge of Mathematics, Science, Engineering and</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Management to be able to offer practical software and hardware solutions for the problems of</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industry and society at large.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2. The graduates shall be able to establish themselves as practicing professionals, researchers or</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Entrepreneurs in computer science or allied areas and shall also be able to pursue higher</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education in reputed institutes.</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3. The graduates shall be able to communicate effectively and work in multidisciplinary teams</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US" sz="1800">
                <a:latin typeface="Times New Roman"/>
                <a:ea typeface="Times New Roman"/>
                <a:cs typeface="Times New Roman"/>
                <a:sym typeface="Times New Roman"/>
              </a:rPr>
              <a:t>with team spirit demonstrating value driven and ethical leadership.</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1800">
              <a:latin typeface="Times New Roman"/>
              <a:ea typeface="Times New Roman"/>
              <a:cs typeface="Times New Roman"/>
              <a:sym typeface="Times New Roman"/>
            </a:endParaRPr>
          </a:p>
        </p:txBody>
      </p:sp>
      <p:sp>
        <p:nvSpPr>
          <p:cNvPr id="97" name="Google Shape;97;p16"/>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idx="1" type="body"/>
          </p:nvPr>
        </p:nvSpPr>
        <p:spPr>
          <a:xfrm>
            <a:off x="0" y="1517100"/>
            <a:ext cx="9144000" cy="5340900"/>
          </a:xfrm>
          <a:prstGeom prst="rect">
            <a:avLst/>
          </a:prstGeom>
          <a:noFill/>
          <a:ln>
            <a:noFill/>
          </a:ln>
        </p:spPr>
        <p:txBody>
          <a:bodyPr anchorCtr="0" anchor="t" bIns="0" lIns="0" spcFirstLastPara="1" rIns="0" wrap="square" tIns="0">
            <a:noAutofit/>
          </a:bodyPr>
          <a:lstStyle/>
          <a:p>
            <a:pPr indent="0" lvl="0" marL="0" rtl="0" algn="ctr">
              <a:lnSpc>
                <a:spcPct val="150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Programme Outcomes</a:t>
            </a:r>
            <a:endParaRPr>
              <a:latin typeface="Times New Roman"/>
              <a:ea typeface="Times New Roman"/>
              <a:cs typeface="Times New Roman"/>
              <a:sym typeface="Times New Roman"/>
            </a:endParaRPr>
          </a:p>
          <a:p>
            <a:pPr indent="0" lvl="0" marL="0" rtl="0" algn="l">
              <a:lnSpc>
                <a:spcPct val="150000"/>
              </a:lnSpc>
              <a:spcBef>
                <a:spcPts val="0"/>
              </a:spcBef>
              <a:spcAft>
                <a:spcPts val="0"/>
              </a:spcAft>
              <a:buSzPts val="1800"/>
              <a:buNone/>
            </a:pPr>
            <a:r>
              <a:rPr lang="en-US" sz="1400">
                <a:latin typeface="Times New Roman"/>
                <a:ea typeface="Times New Roman"/>
                <a:cs typeface="Times New Roman"/>
                <a:sym typeface="Times New Roman"/>
              </a:rPr>
              <a:t>    Engineering Graduates will be able to:</a:t>
            </a:r>
            <a:endParaRPr sz="1400">
              <a:latin typeface="Times New Roman"/>
              <a:ea typeface="Times New Roman"/>
              <a:cs typeface="Times New Roman"/>
              <a:sym typeface="Times New Roman"/>
            </a:endParaRPr>
          </a:p>
          <a:p>
            <a:pPr indent="0" lvl="0" marL="457200" marR="274320" rtl="0" algn="just">
              <a:lnSpc>
                <a:spcPct val="100000"/>
              </a:lnSpc>
              <a:spcBef>
                <a:spcPts val="0"/>
              </a:spcBef>
              <a:spcAft>
                <a:spcPts val="0"/>
              </a:spcAft>
              <a:buClr>
                <a:schemeClr val="dk1"/>
              </a:buClr>
              <a:buSzPts val="1100"/>
              <a:buFont typeface="Arial"/>
              <a:buNone/>
            </a:pPr>
            <a:r>
              <a:rPr lang="en-US" sz="1500">
                <a:latin typeface="Times New Roman"/>
                <a:ea typeface="Times New Roman"/>
                <a:cs typeface="Times New Roman"/>
                <a:sym typeface="Times New Roman"/>
              </a:rPr>
              <a:t>1. </a:t>
            </a:r>
            <a:r>
              <a:rPr b="1" lang="en-US" sz="1500">
                <a:latin typeface="Times New Roman"/>
                <a:ea typeface="Times New Roman"/>
                <a:cs typeface="Times New Roman"/>
                <a:sym typeface="Times New Roman"/>
              </a:rPr>
              <a:t>Engineering knowledge:</a:t>
            </a:r>
            <a:r>
              <a:rPr lang="en-US" sz="1500">
                <a:latin typeface="Times New Roman"/>
                <a:ea typeface="Times New Roman"/>
                <a:cs typeface="Times New Roman"/>
                <a:sym typeface="Times New Roman"/>
              </a:rPr>
              <a:t> Apply the knowledge of mathematics, science, engineering fundamentals, and an engineering specialization to the solution of complex engineering problems.</a:t>
            </a:r>
            <a:endParaRPr sz="1500">
              <a:latin typeface="Times New Roman"/>
              <a:ea typeface="Times New Roman"/>
              <a:cs typeface="Times New Roman"/>
              <a:sym typeface="Times New Roman"/>
            </a:endParaRPr>
          </a:p>
          <a:p>
            <a:pPr indent="0" lvl="0" marL="457200" marR="274320" rtl="0" algn="just">
              <a:lnSpc>
                <a:spcPct val="100000"/>
              </a:lnSpc>
              <a:spcBef>
                <a:spcPts val="0"/>
              </a:spcBef>
              <a:spcAft>
                <a:spcPts val="0"/>
              </a:spcAft>
              <a:buClr>
                <a:schemeClr val="dk1"/>
              </a:buClr>
              <a:buSzPts val="1100"/>
              <a:buFont typeface="Arial"/>
              <a:buNone/>
            </a:pPr>
            <a:br>
              <a:rPr lang="en-US" sz="1500">
                <a:latin typeface="Times New Roman"/>
                <a:ea typeface="Times New Roman"/>
                <a:cs typeface="Times New Roman"/>
                <a:sym typeface="Times New Roman"/>
              </a:rPr>
            </a:br>
            <a:r>
              <a:rPr lang="en-US" sz="1500">
                <a:latin typeface="Times New Roman"/>
                <a:ea typeface="Times New Roman"/>
                <a:cs typeface="Times New Roman"/>
                <a:sym typeface="Times New Roman"/>
              </a:rPr>
              <a:t>2. </a:t>
            </a:r>
            <a:r>
              <a:rPr b="1" lang="en-US" sz="1500">
                <a:latin typeface="Times New Roman"/>
                <a:ea typeface="Times New Roman"/>
                <a:cs typeface="Times New Roman"/>
                <a:sym typeface="Times New Roman"/>
              </a:rPr>
              <a:t>Problem analysis:</a:t>
            </a:r>
            <a:r>
              <a:rPr lang="en-US" sz="1500">
                <a:latin typeface="Times New Roman"/>
                <a:ea typeface="Times New Roman"/>
                <a:cs typeface="Times New Roman"/>
                <a:sym typeface="Times New Roman"/>
              </a:rPr>
              <a:t> Identify, formulate, review research literature, and analyze complex engineering problems reaching substantiated conclusions using first principles of mathematics, natural sciences, and engineering sciences.</a:t>
            </a:r>
            <a:endParaRPr sz="1500">
              <a:latin typeface="Times New Roman"/>
              <a:ea typeface="Times New Roman"/>
              <a:cs typeface="Times New Roman"/>
              <a:sym typeface="Times New Roman"/>
            </a:endParaRPr>
          </a:p>
          <a:p>
            <a:pPr indent="0" lvl="0" marL="457200" marR="274320" rtl="0" algn="just">
              <a:lnSpc>
                <a:spcPct val="100000"/>
              </a:lnSpc>
              <a:spcBef>
                <a:spcPts val="0"/>
              </a:spcBef>
              <a:spcAft>
                <a:spcPts val="0"/>
              </a:spcAft>
              <a:buClr>
                <a:schemeClr val="dk1"/>
              </a:buClr>
              <a:buSzPts val="1100"/>
              <a:buFont typeface="Arial"/>
              <a:buNone/>
            </a:pPr>
            <a:br>
              <a:rPr lang="en-US" sz="1500">
                <a:latin typeface="Times New Roman"/>
                <a:ea typeface="Times New Roman"/>
                <a:cs typeface="Times New Roman"/>
                <a:sym typeface="Times New Roman"/>
              </a:rPr>
            </a:br>
            <a:r>
              <a:rPr lang="en-US" sz="1500">
                <a:latin typeface="Times New Roman"/>
                <a:ea typeface="Times New Roman"/>
                <a:cs typeface="Times New Roman"/>
                <a:sym typeface="Times New Roman"/>
              </a:rPr>
              <a:t>3. </a:t>
            </a:r>
            <a:r>
              <a:rPr b="1" lang="en-US" sz="1500">
                <a:latin typeface="Times New Roman"/>
                <a:ea typeface="Times New Roman"/>
                <a:cs typeface="Times New Roman"/>
                <a:sym typeface="Times New Roman"/>
              </a:rPr>
              <a:t>Design/development of solutions:</a:t>
            </a:r>
            <a:r>
              <a:rPr lang="en-US" sz="1500">
                <a:latin typeface="Times New Roman"/>
                <a:ea typeface="Times New Roman"/>
                <a:cs typeface="Times New Roman"/>
                <a:sym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sz="1500">
              <a:latin typeface="Times New Roman"/>
              <a:ea typeface="Times New Roman"/>
              <a:cs typeface="Times New Roman"/>
              <a:sym typeface="Times New Roman"/>
            </a:endParaRPr>
          </a:p>
          <a:p>
            <a:pPr indent="0" lvl="0" marL="457200" marR="274320" rtl="0" algn="just">
              <a:lnSpc>
                <a:spcPct val="100000"/>
              </a:lnSpc>
              <a:spcBef>
                <a:spcPts val="0"/>
              </a:spcBef>
              <a:spcAft>
                <a:spcPts val="0"/>
              </a:spcAft>
              <a:buClr>
                <a:schemeClr val="dk1"/>
              </a:buClr>
              <a:buSzPts val="1100"/>
              <a:buFont typeface="Arial"/>
              <a:buNone/>
            </a:pPr>
            <a:br>
              <a:rPr lang="en-US" sz="1500">
                <a:latin typeface="Times New Roman"/>
                <a:ea typeface="Times New Roman"/>
                <a:cs typeface="Times New Roman"/>
                <a:sym typeface="Times New Roman"/>
              </a:rPr>
            </a:br>
            <a:r>
              <a:rPr lang="en-US" sz="1500">
                <a:latin typeface="Times New Roman"/>
                <a:ea typeface="Times New Roman"/>
                <a:cs typeface="Times New Roman"/>
                <a:sym typeface="Times New Roman"/>
              </a:rPr>
              <a:t>4. </a:t>
            </a:r>
            <a:r>
              <a:rPr b="1" lang="en-US" sz="1500">
                <a:latin typeface="Times New Roman"/>
                <a:ea typeface="Times New Roman"/>
                <a:cs typeface="Times New Roman"/>
                <a:sym typeface="Times New Roman"/>
              </a:rPr>
              <a:t>Conduct investigations of complex problems:</a:t>
            </a:r>
            <a:r>
              <a:rPr lang="en-US" sz="1500">
                <a:latin typeface="Times New Roman"/>
                <a:ea typeface="Times New Roman"/>
                <a:cs typeface="Times New Roman"/>
                <a:sym typeface="Times New Roman"/>
              </a:rPr>
              <a:t> Use research-based knowledge and research methods including design of experiments, analysis and interpretation of data, and synthesis of the information to provide valid conclusions.</a:t>
            </a:r>
            <a:endParaRPr sz="1500">
              <a:latin typeface="Times New Roman"/>
              <a:ea typeface="Times New Roman"/>
              <a:cs typeface="Times New Roman"/>
              <a:sym typeface="Times New Roman"/>
            </a:endParaRPr>
          </a:p>
          <a:p>
            <a:pPr indent="0" lvl="0" marL="457200" marR="274320" rtl="0" algn="just">
              <a:lnSpc>
                <a:spcPct val="100000"/>
              </a:lnSpc>
              <a:spcBef>
                <a:spcPts val="0"/>
              </a:spcBef>
              <a:spcAft>
                <a:spcPts val="0"/>
              </a:spcAft>
              <a:buClr>
                <a:schemeClr val="dk1"/>
              </a:buClr>
              <a:buSzPts val="1100"/>
              <a:buFont typeface="Arial"/>
              <a:buNone/>
            </a:pPr>
            <a:r>
              <a:t/>
            </a:r>
            <a:endParaRPr sz="1500">
              <a:latin typeface="Times New Roman"/>
              <a:ea typeface="Times New Roman"/>
              <a:cs typeface="Times New Roman"/>
              <a:sym typeface="Times New Roman"/>
            </a:endParaRPr>
          </a:p>
          <a:p>
            <a:pPr indent="0" lvl="0" marL="457200" marR="274320" rtl="0" algn="just">
              <a:lnSpc>
                <a:spcPct val="115000"/>
              </a:lnSpc>
              <a:spcBef>
                <a:spcPts val="0"/>
              </a:spcBef>
              <a:spcAft>
                <a:spcPts val="0"/>
              </a:spcAft>
              <a:buClr>
                <a:schemeClr val="dk1"/>
              </a:buClr>
              <a:buSzPts val="1100"/>
              <a:buFont typeface="Arial"/>
              <a:buNone/>
            </a:pPr>
            <a:r>
              <a:rPr lang="en-US" sz="1500">
                <a:latin typeface="Times New Roman"/>
                <a:ea typeface="Times New Roman"/>
                <a:cs typeface="Times New Roman"/>
                <a:sym typeface="Times New Roman"/>
              </a:rPr>
              <a:t>5. </a:t>
            </a:r>
            <a:r>
              <a:rPr b="1" lang="en-US" sz="1500">
                <a:latin typeface="Times New Roman"/>
                <a:ea typeface="Times New Roman"/>
                <a:cs typeface="Times New Roman"/>
                <a:sym typeface="Times New Roman"/>
              </a:rPr>
              <a:t>Modern tool usage:</a:t>
            </a:r>
            <a:r>
              <a:rPr lang="en-US" sz="1500">
                <a:latin typeface="Times New Roman"/>
                <a:ea typeface="Times New Roman"/>
                <a:cs typeface="Times New Roman"/>
                <a:sym typeface="Times New Roman"/>
              </a:rPr>
              <a:t> Create, select, and apply appropriate techniques, resources, and modern engineering and IT tools including prediction and modeling to complex engineering activities with an understanding of the limitations.</a:t>
            </a:r>
            <a:endParaRPr sz="1500">
              <a:latin typeface="Times New Roman"/>
              <a:ea typeface="Times New Roman"/>
              <a:cs typeface="Times New Roman"/>
              <a:sym typeface="Times New Roman"/>
            </a:endParaRPr>
          </a:p>
          <a:p>
            <a:pPr indent="0" lvl="0" marL="0" rtl="0" algn="l">
              <a:lnSpc>
                <a:spcPct val="100000"/>
              </a:lnSpc>
              <a:spcBef>
                <a:spcPts val="1000"/>
              </a:spcBef>
              <a:spcAft>
                <a:spcPts val="0"/>
              </a:spcAft>
              <a:buSzPts val="1800"/>
              <a:buNone/>
            </a:pPr>
            <a:r>
              <a:t/>
            </a:r>
            <a:endParaRPr sz="3100"/>
          </a:p>
        </p:txBody>
      </p:sp>
      <p:sp>
        <p:nvSpPr>
          <p:cNvPr id="103" name="Google Shape;103;p17"/>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idx="1" type="body"/>
          </p:nvPr>
        </p:nvSpPr>
        <p:spPr>
          <a:xfrm>
            <a:off x="0" y="1345500"/>
            <a:ext cx="9144000" cy="5512500"/>
          </a:xfrm>
          <a:prstGeom prst="rect">
            <a:avLst/>
          </a:prstGeom>
          <a:noFill/>
          <a:ln>
            <a:noFill/>
          </a:ln>
        </p:spPr>
        <p:txBody>
          <a:bodyPr anchorCtr="0" anchor="t" bIns="0" lIns="0" spcFirstLastPara="1" rIns="0" wrap="square" tIns="0">
            <a:noAutofit/>
          </a:bodyPr>
          <a:lstStyle/>
          <a:p>
            <a:pPr indent="0" lvl="0" marL="274320" marR="274320" rtl="0" algn="just">
              <a:lnSpc>
                <a:spcPct val="115000"/>
              </a:lnSpc>
              <a:spcBef>
                <a:spcPts val="0"/>
              </a:spcBef>
              <a:spcAft>
                <a:spcPts val="0"/>
              </a:spcAft>
              <a:buClr>
                <a:schemeClr val="dk1"/>
              </a:buClr>
              <a:buSzPts val="1100"/>
              <a:buFont typeface="Arial"/>
              <a:buNone/>
            </a:pPr>
            <a:br>
              <a:rPr lang="en-US" sz="1200">
                <a:latin typeface="Times New Roman"/>
                <a:ea typeface="Times New Roman"/>
                <a:cs typeface="Times New Roman"/>
                <a:sym typeface="Times New Roman"/>
              </a:rPr>
            </a:br>
            <a:r>
              <a:rPr lang="en-US" sz="1400">
                <a:latin typeface="Times New Roman"/>
                <a:ea typeface="Times New Roman"/>
                <a:cs typeface="Times New Roman"/>
                <a:sym typeface="Times New Roman"/>
              </a:rPr>
              <a:t>6. </a:t>
            </a:r>
            <a:r>
              <a:rPr b="1" lang="en-US" sz="1400">
                <a:latin typeface="Times New Roman"/>
                <a:ea typeface="Times New Roman"/>
                <a:cs typeface="Times New Roman"/>
                <a:sym typeface="Times New Roman"/>
              </a:rPr>
              <a:t>The engineer and society:</a:t>
            </a:r>
            <a:r>
              <a:rPr lang="en-US" sz="1400">
                <a:latin typeface="Times New Roman"/>
                <a:ea typeface="Times New Roman"/>
                <a:cs typeface="Times New Roman"/>
                <a:sym typeface="Times New Roman"/>
              </a:rPr>
              <a:t> Apply reasoning informed by the contextual knowledge to assess societal, health, safety, legal and cultural issues and the consequent responsibilities relevant to the professional engineering practice.</a:t>
            </a:r>
            <a:endParaRPr sz="1400">
              <a:latin typeface="Times New Roman"/>
              <a:ea typeface="Times New Roman"/>
              <a:cs typeface="Times New Roman"/>
              <a:sym typeface="Times New Roman"/>
            </a:endParaRPr>
          </a:p>
          <a:p>
            <a:pPr indent="0" lvl="0" marL="274320" marR="274320" rtl="0" algn="just">
              <a:lnSpc>
                <a:spcPct val="115000"/>
              </a:lnSpc>
              <a:spcBef>
                <a:spcPts val="0"/>
              </a:spcBef>
              <a:spcAft>
                <a:spcPts val="0"/>
              </a:spcAft>
              <a:buClr>
                <a:schemeClr val="dk1"/>
              </a:buClr>
              <a:buSzPts val="1100"/>
              <a:buFont typeface="Arial"/>
              <a:buNone/>
            </a:pP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7. </a:t>
            </a:r>
            <a:r>
              <a:rPr b="1" lang="en-US" sz="1400">
                <a:latin typeface="Times New Roman"/>
                <a:ea typeface="Times New Roman"/>
                <a:cs typeface="Times New Roman"/>
                <a:sym typeface="Times New Roman"/>
              </a:rPr>
              <a:t>Environment and sustainability:</a:t>
            </a:r>
            <a:r>
              <a:rPr lang="en-US" sz="1400">
                <a:latin typeface="Times New Roman"/>
                <a:ea typeface="Times New Roman"/>
                <a:cs typeface="Times New Roman"/>
                <a:sym typeface="Times New Roman"/>
              </a:rPr>
              <a:t> Understand the impact of the professional engineering solutions in societal and environmental contexts, and demonstrate the knowledge of, and need for sustainable development.</a:t>
            </a:r>
            <a:endParaRPr sz="1400">
              <a:latin typeface="Times New Roman"/>
              <a:ea typeface="Times New Roman"/>
              <a:cs typeface="Times New Roman"/>
              <a:sym typeface="Times New Roman"/>
            </a:endParaRPr>
          </a:p>
          <a:p>
            <a:pPr indent="0" lvl="0" marL="274320" marR="274320" rtl="0" algn="just">
              <a:lnSpc>
                <a:spcPct val="115000"/>
              </a:lnSpc>
              <a:spcBef>
                <a:spcPts val="0"/>
              </a:spcBef>
              <a:spcAft>
                <a:spcPts val="0"/>
              </a:spcAft>
              <a:buClr>
                <a:schemeClr val="dk1"/>
              </a:buClr>
              <a:buSzPts val="1100"/>
              <a:buFont typeface="Arial"/>
              <a:buNone/>
            </a:pP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8. </a:t>
            </a:r>
            <a:r>
              <a:rPr b="1" lang="en-US" sz="1400">
                <a:latin typeface="Times New Roman"/>
                <a:ea typeface="Times New Roman"/>
                <a:cs typeface="Times New Roman"/>
                <a:sym typeface="Times New Roman"/>
              </a:rPr>
              <a:t>Ethics:</a:t>
            </a:r>
            <a:r>
              <a:rPr lang="en-US" sz="1400">
                <a:latin typeface="Times New Roman"/>
                <a:ea typeface="Times New Roman"/>
                <a:cs typeface="Times New Roman"/>
                <a:sym typeface="Times New Roman"/>
              </a:rPr>
              <a:t> Apply ethical principles and commit to professional ethics and responsibilities and norms of the engineering practice.</a:t>
            </a:r>
            <a:endParaRPr sz="1400">
              <a:latin typeface="Times New Roman"/>
              <a:ea typeface="Times New Roman"/>
              <a:cs typeface="Times New Roman"/>
              <a:sym typeface="Times New Roman"/>
            </a:endParaRPr>
          </a:p>
          <a:p>
            <a:pPr indent="0" lvl="0" marL="274320" marR="274320" rtl="0" algn="just">
              <a:lnSpc>
                <a:spcPct val="115000"/>
              </a:lnSpc>
              <a:spcBef>
                <a:spcPts val="0"/>
              </a:spcBef>
              <a:spcAft>
                <a:spcPts val="0"/>
              </a:spcAft>
              <a:buClr>
                <a:schemeClr val="dk1"/>
              </a:buClr>
              <a:buSzPts val="1100"/>
              <a:buFont typeface="Arial"/>
              <a:buNone/>
            </a:pP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9. </a:t>
            </a:r>
            <a:r>
              <a:rPr b="1" lang="en-US" sz="1400">
                <a:latin typeface="Times New Roman"/>
                <a:ea typeface="Times New Roman"/>
                <a:cs typeface="Times New Roman"/>
                <a:sym typeface="Times New Roman"/>
              </a:rPr>
              <a:t>Individual and team work:</a:t>
            </a:r>
            <a:r>
              <a:rPr lang="en-US" sz="1400">
                <a:latin typeface="Times New Roman"/>
                <a:ea typeface="Times New Roman"/>
                <a:cs typeface="Times New Roman"/>
                <a:sym typeface="Times New Roman"/>
              </a:rPr>
              <a:t> Function effectively as an individual, and as a member or leader in diverse teams, and in multidisciplinary settings.</a:t>
            </a:r>
            <a:endParaRPr sz="1400">
              <a:latin typeface="Times New Roman"/>
              <a:ea typeface="Times New Roman"/>
              <a:cs typeface="Times New Roman"/>
              <a:sym typeface="Times New Roman"/>
            </a:endParaRPr>
          </a:p>
          <a:p>
            <a:pPr indent="0" lvl="0" marL="274320" marR="274320" rtl="0" algn="just">
              <a:lnSpc>
                <a:spcPct val="115000"/>
              </a:lnSpc>
              <a:spcBef>
                <a:spcPts val="0"/>
              </a:spcBef>
              <a:spcAft>
                <a:spcPts val="0"/>
              </a:spcAft>
              <a:buClr>
                <a:schemeClr val="dk1"/>
              </a:buClr>
              <a:buSzPts val="1100"/>
              <a:buFont typeface="Arial"/>
              <a:buNone/>
            </a:pP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10. </a:t>
            </a:r>
            <a:r>
              <a:rPr b="1" lang="en-US" sz="1400">
                <a:latin typeface="Times New Roman"/>
                <a:ea typeface="Times New Roman"/>
                <a:cs typeface="Times New Roman"/>
                <a:sym typeface="Times New Roman"/>
              </a:rPr>
              <a:t>Communication:</a:t>
            </a:r>
            <a:r>
              <a:rPr lang="en-US" sz="1400">
                <a:latin typeface="Times New Roman"/>
                <a:ea typeface="Times New Roman"/>
                <a:cs typeface="Times New Roman"/>
                <a:sym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sz="1400">
              <a:latin typeface="Times New Roman"/>
              <a:ea typeface="Times New Roman"/>
              <a:cs typeface="Times New Roman"/>
              <a:sym typeface="Times New Roman"/>
            </a:endParaRPr>
          </a:p>
          <a:p>
            <a:pPr indent="0" lvl="0" marL="274320" marR="274320" rtl="0" algn="just">
              <a:lnSpc>
                <a:spcPct val="115000"/>
              </a:lnSpc>
              <a:spcBef>
                <a:spcPts val="0"/>
              </a:spcBef>
              <a:spcAft>
                <a:spcPts val="0"/>
              </a:spcAft>
              <a:buClr>
                <a:schemeClr val="dk1"/>
              </a:buClr>
              <a:buSzPts val="1100"/>
              <a:buFont typeface="Arial"/>
              <a:buNone/>
            </a:pP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11. </a:t>
            </a:r>
            <a:r>
              <a:rPr b="1" lang="en-US" sz="1400">
                <a:latin typeface="Times New Roman"/>
                <a:ea typeface="Times New Roman"/>
                <a:cs typeface="Times New Roman"/>
                <a:sym typeface="Times New Roman"/>
              </a:rPr>
              <a:t>Project management and finance:</a:t>
            </a:r>
            <a:r>
              <a:rPr lang="en-US" sz="1400">
                <a:latin typeface="Times New Roman"/>
                <a:ea typeface="Times New Roman"/>
                <a:cs typeface="Times New Roman"/>
                <a:sym typeface="Times New Roman"/>
              </a:rPr>
              <a:t> Demonstrate knowledge and understanding of the engineering and management principles and apply these to one’s own work, as a member and leader in a team, to manage projects and in multidisciplinary environments.</a:t>
            </a: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12. </a:t>
            </a:r>
            <a:r>
              <a:rPr b="1" lang="en-US" sz="1400">
                <a:latin typeface="Times New Roman"/>
                <a:ea typeface="Times New Roman"/>
                <a:cs typeface="Times New Roman"/>
                <a:sym typeface="Times New Roman"/>
              </a:rPr>
              <a:t>Life-long learning:</a:t>
            </a:r>
            <a:r>
              <a:rPr lang="en-US" sz="1400">
                <a:latin typeface="Times New Roman"/>
                <a:ea typeface="Times New Roman"/>
                <a:cs typeface="Times New Roman"/>
                <a:sym typeface="Times New Roman"/>
              </a:rPr>
              <a:t> Recognize the need for, and have the preparation and ability to engage in independent and life-long learning in the broadest context of technological change</a:t>
            </a:r>
            <a:r>
              <a:rPr lang="en-US"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indent="0" lvl="0" marL="274320" marR="274320" rtl="0" algn="just">
              <a:lnSpc>
                <a:spcPct val="115000"/>
              </a:lnSpc>
              <a:spcBef>
                <a:spcPts val="0"/>
              </a:spcBef>
              <a:spcAft>
                <a:spcPts val="0"/>
              </a:spcAft>
              <a:buClr>
                <a:schemeClr val="dk1"/>
              </a:buClr>
              <a:buSzPts val="1100"/>
              <a:buFont typeface="Arial"/>
              <a:buNone/>
            </a:pPr>
            <a:r>
              <a:t/>
            </a:r>
            <a:endParaRPr sz="1300">
              <a:latin typeface="Times New Roman"/>
              <a:ea typeface="Times New Roman"/>
              <a:cs typeface="Times New Roman"/>
              <a:sym typeface="Times New Roman"/>
            </a:endParaRPr>
          </a:p>
          <a:p>
            <a:pPr indent="0" lvl="0" marL="274320" marR="274320" rtl="0" algn="l">
              <a:lnSpc>
                <a:spcPct val="90000"/>
              </a:lnSpc>
              <a:spcBef>
                <a:spcPts val="1000"/>
              </a:spcBef>
              <a:spcAft>
                <a:spcPts val="0"/>
              </a:spcAft>
              <a:buSzPts val="1800"/>
              <a:buNone/>
            </a:pPr>
            <a:r>
              <a:t/>
            </a:r>
            <a:endParaRPr/>
          </a:p>
        </p:txBody>
      </p:sp>
      <p:sp>
        <p:nvSpPr>
          <p:cNvPr id="109" name="Google Shape;109;p18"/>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idx="1" type="body"/>
          </p:nvPr>
        </p:nvSpPr>
        <p:spPr>
          <a:xfrm>
            <a:off x="135100" y="1593425"/>
            <a:ext cx="8783700" cy="4739700"/>
          </a:xfrm>
          <a:prstGeom prst="rect">
            <a:avLst/>
          </a:prstGeom>
          <a:noFill/>
          <a:ln>
            <a:noFill/>
          </a:ln>
        </p:spPr>
        <p:txBody>
          <a:bodyPr anchorCtr="0" anchor="t" bIns="0" lIns="0" spcFirstLastPara="1" rIns="0" wrap="square" tIns="0">
            <a:noAutofit/>
          </a:bodyPr>
          <a:lstStyle/>
          <a:p>
            <a:pPr indent="0" lvl="0" marL="0" rtl="0" algn="ctr">
              <a:lnSpc>
                <a:spcPct val="150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Programme Specific Outcomes (PSOs)</a:t>
            </a:r>
            <a:endParaRPr>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a:t>
            </a:r>
            <a:r>
              <a:rPr lang="en-US" sz="1600">
                <a:latin typeface="Times New Roman"/>
                <a:ea typeface="Times New Roman"/>
                <a:cs typeface="Times New Roman"/>
                <a:sym typeface="Times New Roman"/>
              </a:rPr>
              <a:t>On the completion of Computer Science &amp; Engineering program, the students will possess:</a:t>
            </a:r>
            <a:endParaRPr sz="1600">
              <a:latin typeface="Times New Roman"/>
              <a:ea typeface="Times New Roman"/>
              <a:cs typeface="Times New Roman"/>
              <a:sym typeface="Times New Roman"/>
            </a:endParaRPr>
          </a:p>
          <a:p>
            <a:pPr indent="-330200" lvl="0" marL="685800" rtl="0" algn="just">
              <a:lnSpc>
                <a:spcPct val="150000"/>
              </a:lnSpc>
              <a:spcBef>
                <a:spcPts val="0"/>
              </a:spcBef>
              <a:spcAft>
                <a:spcPts val="0"/>
              </a:spcAft>
              <a:buSzPts val="1600"/>
              <a:buFont typeface="Times New Roman"/>
              <a:buAutoNum type="arabicPeriod"/>
            </a:pPr>
            <a:r>
              <a:rPr lang="en-US" sz="1600">
                <a:latin typeface="Times New Roman"/>
                <a:ea typeface="Times New Roman"/>
                <a:cs typeface="Times New Roman"/>
                <a:sym typeface="Times New Roman"/>
              </a:rPr>
              <a:t>An ability to apply knowledge of data structures and algorithms appropriate to computational problems.</a:t>
            </a:r>
            <a:endParaRPr sz="1600">
              <a:latin typeface="Times New Roman"/>
              <a:ea typeface="Times New Roman"/>
              <a:cs typeface="Times New Roman"/>
              <a:sym typeface="Times New Roman"/>
            </a:endParaRPr>
          </a:p>
          <a:p>
            <a:pPr indent="-330200" lvl="0" marL="685800" rtl="0" algn="just">
              <a:lnSpc>
                <a:spcPct val="150000"/>
              </a:lnSpc>
              <a:spcBef>
                <a:spcPts val="0"/>
              </a:spcBef>
              <a:spcAft>
                <a:spcPts val="0"/>
              </a:spcAft>
              <a:buSzPts val="1600"/>
              <a:buFont typeface="Times New Roman"/>
              <a:buAutoNum type="arabicPeriod"/>
            </a:pPr>
            <a:r>
              <a:rPr lang="en-US" sz="1600">
                <a:latin typeface="Times New Roman"/>
                <a:ea typeface="Times New Roman"/>
                <a:cs typeface="Times New Roman"/>
                <a:sym typeface="Times New Roman"/>
              </a:rPr>
              <a:t>An ability to apply knowledge of operating systems, programming languages, data management, or networking principles to computational assignments.</a:t>
            </a:r>
            <a:endParaRPr sz="1600">
              <a:latin typeface="Times New Roman"/>
              <a:ea typeface="Times New Roman"/>
              <a:cs typeface="Times New Roman"/>
              <a:sym typeface="Times New Roman"/>
            </a:endParaRPr>
          </a:p>
          <a:p>
            <a:pPr indent="-330200" lvl="0" marL="685800" rtl="0" algn="just">
              <a:lnSpc>
                <a:spcPct val="150000"/>
              </a:lnSpc>
              <a:spcBef>
                <a:spcPts val="0"/>
              </a:spcBef>
              <a:spcAft>
                <a:spcPts val="0"/>
              </a:spcAft>
              <a:buSzPts val="1600"/>
              <a:buFont typeface="Times New Roman"/>
              <a:buAutoNum type="arabicPeriod"/>
            </a:pPr>
            <a:r>
              <a:rPr lang="en-US" sz="1600">
                <a:latin typeface="Times New Roman"/>
                <a:ea typeface="Times New Roman"/>
                <a:cs typeface="Times New Roman"/>
                <a:sym typeface="Times New Roman"/>
              </a:rPr>
              <a:t>An ability to apply design, development, maintenance or evaluation of software engineering principles in the construction of computer and software systems of varying complexity and quality. </a:t>
            </a:r>
            <a:endParaRPr sz="1600">
              <a:latin typeface="Times New Roman"/>
              <a:ea typeface="Times New Roman"/>
              <a:cs typeface="Times New Roman"/>
              <a:sym typeface="Times New Roman"/>
            </a:endParaRPr>
          </a:p>
          <a:p>
            <a:pPr indent="-330200" lvl="0" marL="685800" rtl="0" algn="just">
              <a:lnSpc>
                <a:spcPct val="150000"/>
              </a:lnSpc>
              <a:spcBef>
                <a:spcPts val="0"/>
              </a:spcBef>
              <a:spcAft>
                <a:spcPts val="0"/>
              </a:spcAft>
              <a:buSzPts val="1600"/>
              <a:buFont typeface="Times New Roman"/>
              <a:buAutoNum type="arabicPeriod"/>
            </a:pPr>
            <a:r>
              <a:rPr lang="en-US" sz="1600">
                <a:latin typeface="Times New Roman"/>
                <a:ea typeface="Times New Roman"/>
                <a:cs typeface="Times New Roman"/>
                <a:sym typeface="Times New Roman"/>
              </a:rPr>
              <a:t>An ability to understand concepts involved in modeling and design of computer science applications in a way that demonstrates comprehension of the fundamentals and trade-offs involved in design choices.</a:t>
            </a:r>
            <a:endParaRPr sz="16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3200"/>
          </a:p>
        </p:txBody>
      </p:sp>
      <p:sp>
        <p:nvSpPr>
          <p:cNvPr id="115" name="Google Shape;115;p19"/>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idx="12" type="sldNum"/>
          </p:nvPr>
        </p:nvSpPr>
        <p:spPr>
          <a:xfrm>
            <a:off x="8556784" y="6333134"/>
            <a:ext cx="548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21" name="Google Shape;121;p20"/>
          <p:cNvSpPr txBox="1"/>
          <p:nvPr>
            <p:ph idx="1" type="body"/>
          </p:nvPr>
        </p:nvSpPr>
        <p:spPr>
          <a:xfrm>
            <a:off x="327175" y="1967800"/>
            <a:ext cx="8229600" cy="49614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Introduction</a:t>
            </a:r>
            <a:endParaRPr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Motivation</a:t>
            </a:r>
            <a:endParaRPr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Literature Survey </a:t>
            </a:r>
            <a:endParaRPr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Inferences from Literature Survey </a:t>
            </a:r>
            <a:endParaRPr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Problem Statement </a:t>
            </a:r>
            <a:endParaRPr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Dataset Details </a:t>
            </a:r>
            <a:endParaRPr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Proposed Method </a:t>
            </a:r>
            <a:endParaRPr sz="1600">
              <a:solidFill>
                <a:schemeClr val="dk2"/>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Clr>
                <a:schemeClr val="dk2"/>
              </a:buClr>
              <a:buSzPts val="1600"/>
              <a:buFont typeface="Times New Roman"/>
              <a:buChar char="•"/>
            </a:pPr>
            <a:r>
              <a:rPr b="1" lang="en-US" sz="1600">
                <a:solidFill>
                  <a:schemeClr val="dk2"/>
                </a:solidFill>
                <a:latin typeface="Times New Roman"/>
                <a:ea typeface="Times New Roman"/>
                <a:cs typeface="Times New Roman"/>
                <a:sym typeface="Times New Roman"/>
              </a:rPr>
              <a:t>Architecture Diagram/Flow Diagram</a:t>
            </a:r>
            <a:endParaRPr sz="1600">
              <a:solidFill>
                <a:schemeClr val="dk2"/>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Clr>
                <a:schemeClr val="dk2"/>
              </a:buClr>
              <a:buSzPts val="1600"/>
              <a:buFont typeface="Times New Roman"/>
              <a:buChar char="•"/>
            </a:pPr>
            <a:r>
              <a:rPr b="1" lang="en-US" sz="1600">
                <a:solidFill>
                  <a:schemeClr val="dk2"/>
                </a:solidFill>
                <a:latin typeface="Times New Roman"/>
                <a:ea typeface="Times New Roman"/>
                <a:cs typeface="Times New Roman"/>
                <a:sym typeface="Times New Roman"/>
              </a:rPr>
              <a:t>Novelty of the Proposed Method</a:t>
            </a:r>
            <a:endParaRPr sz="1600">
              <a:solidFill>
                <a:schemeClr val="dk2"/>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Clr>
                <a:schemeClr val="dk2"/>
              </a:buClr>
              <a:buSzPts val="1600"/>
              <a:buFont typeface="Times New Roman"/>
              <a:buChar char="•"/>
            </a:pPr>
            <a:r>
              <a:rPr b="1" lang="en-US" sz="1600">
                <a:solidFill>
                  <a:schemeClr val="dk2"/>
                </a:solidFill>
                <a:latin typeface="Times New Roman"/>
                <a:ea typeface="Times New Roman"/>
                <a:cs typeface="Times New Roman"/>
                <a:sym typeface="Times New Roman"/>
              </a:rPr>
              <a:t>Algorithm Steps</a:t>
            </a:r>
            <a:r>
              <a:rPr b="1" lang="en-US" sz="1600">
                <a:solidFill>
                  <a:schemeClr val="dk2"/>
                </a:solidFill>
                <a:latin typeface="Times New Roman"/>
                <a:ea typeface="Times New Roman"/>
                <a:cs typeface="Times New Roman"/>
                <a:sym typeface="Times New Roman"/>
              </a:rPr>
              <a:t>     </a:t>
            </a:r>
            <a:endParaRPr b="1"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Conclusion</a:t>
            </a:r>
            <a:r>
              <a:rPr b="1" lang="en-US" sz="1600">
                <a:solidFill>
                  <a:schemeClr val="dk2"/>
                </a:solidFill>
                <a:latin typeface="Times New Roman"/>
                <a:ea typeface="Times New Roman"/>
                <a:cs typeface="Times New Roman"/>
                <a:sym typeface="Times New Roman"/>
              </a:rPr>
              <a:t> </a:t>
            </a:r>
            <a:endParaRPr b="1" sz="1600">
              <a:solidFill>
                <a:schemeClr val="dk2"/>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US" sz="1600">
                <a:solidFill>
                  <a:schemeClr val="dk2"/>
                </a:solidFill>
                <a:latin typeface="Times New Roman"/>
                <a:ea typeface="Times New Roman"/>
                <a:cs typeface="Times New Roman"/>
                <a:sym typeface="Times New Roman"/>
              </a:rPr>
              <a:t>References</a:t>
            </a:r>
            <a:endParaRPr b="1" sz="1600">
              <a:solidFill>
                <a:schemeClr val="dk2"/>
              </a:solidFill>
              <a:latin typeface="Times New Roman"/>
              <a:ea typeface="Times New Roman"/>
              <a:cs typeface="Times New Roman"/>
              <a:sym typeface="Times New Roman"/>
            </a:endParaRPr>
          </a:p>
          <a:p>
            <a:pPr indent="0" lvl="0" marL="0" rtl="0" algn="l">
              <a:lnSpc>
                <a:spcPct val="150000"/>
              </a:lnSpc>
              <a:spcBef>
                <a:spcPts val="1000"/>
              </a:spcBef>
              <a:spcAft>
                <a:spcPts val="0"/>
              </a:spcAft>
              <a:buSzPts val="1800"/>
              <a:buNone/>
            </a:pPr>
            <a:r>
              <a:t/>
            </a:r>
            <a:endParaRPr sz="1400">
              <a:solidFill>
                <a:schemeClr val="dk2"/>
              </a:solidFill>
              <a:latin typeface="Times New Roman"/>
              <a:ea typeface="Times New Roman"/>
              <a:cs typeface="Times New Roman"/>
              <a:sym typeface="Times New Roman"/>
            </a:endParaRPr>
          </a:p>
          <a:p>
            <a:pPr indent="-228600" lvl="0" marL="457200" rtl="0" algn="l">
              <a:lnSpc>
                <a:spcPct val="150000"/>
              </a:lnSpc>
              <a:spcBef>
                <a:spcPts val="1000"/>
              </a:spcBef>
              <a:spcAft>
                <a:spcPts val="0"/>
              </a:spcAft>
              <a:buSzPts val="1800"/>
              <a:buNone/>
            </a:pPr>
            <a:r>
              <a:t/>
            </a:r>
            <a:endParaRPr sz="1400">
              <a:solidFill>
                <a:schemeClr val="dk2"/>
              </a:solidFill>
              <a:latin typeface="Times New Roman"/>
              <a:ea typeface="Times New Roman"/>
              <a:cs typeface="Times New Roman"/>
              <a:sym typeface="Times New Roman"/>
            </a:endParaRPr>
          </a:p>
        </p:txBody>
      </p:sp>
      <p:sp>
        <p:nvSpPr>
          <p:cNvPr id="122" name="Google Shape;122;p20"/>
          <p:cNvSpPr txBox="1"/>
          <p:nvPr>
            <p:ph type="title"/>
          </p:nvPr>
        </p:nvSpPr>
        <p:spPr>
          <a:xfrm>
            <a:off x="0" y="1326525"/>
            <a:ext cx="3739800" cy="7224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New Roman"/>
                <a:ea typeface="Times New Roman"/>
                <a:cs typeface="Times New Roman"/>
                <a:sym typeface="Times New Roman"/>
              </a:rPr>
              <a:t>   </a:t>
            </a:r>
            <a:r>
              <a:rPr b="1" lang="en-US" sz="2800">
                <a:latin typeface="Times New Roman"/>
                <a:ea typeface="Times New Roman"/>
                <a:cs typeface="Times New Roman"/>
                <a:sym typeface="Times New Roman"/>
              </a:rPr>
              <a:t>CONTENTS</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idx="1" type="body"/>
          </p:nvPr>
        </p:nvSpPr>
        <p:spPr>
          <a:xfrm>
            <a:off x="221050" y="1718400"/>
            <a:ext cx="8575200" cy="53070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600">
                <a:latin typeface="Times New Roman"/>
                <a:ea typeface="Times New Roman"/>
                <a:cs typeface="Times New Roman"/>
                <a:sym typeface="Times New Roman"/>
              </a:rPr>
              <a:t>WILD-SOUND : ‘Wildlife Monitoring System Using AI’ is an innovative solution designed to bridge the gap between conservat</a:t>
            </a:r>
            <a:r>
              <a:rPr b="1" lang="en-US" sz="1600">
                <a:latin typeface="Times New Roman"/>
                <a:ea typeface="Times New Roman"/>
                <a:cs typeface="Times New Roman"/>
                <a:sym typeface="Times New Roman"/>
              </a:rPr>
              <a:t>ion and safety by leveraging intelligent acoustic technology</a:t>
            </a:r>
            <a:endParaRPr b="1" sz="1600">
              <a:latin typeface="Times New Roman"/>
              <a:ea typeface="Times New Roman"/>
              <a:cs typeface="Times New Roman"/>
              <a:sym typeface="Times New Roman"/>
            </a:endParaRPr>
          </a:p>
          <a:p>
            <a:pPr indent="-330200" lvl="0" marL="457200" rtl="0" algn="l">
              <a:lnSpc>
                <a:spcPct val="115000"/>
              </a:lnSpc>
              <a:spcBef>
                <a:spcPts val="1200"/>
              </a:spcBef>
              <a:spcAft>
                <a:spcPts val="0"/>
              </a:spcAft>
              <a:buSzPts val="1600"/>
              <a:buFont typeface="Times New Roman"/>
              <a:buAutoNum type="arabicPeriod"/>
            </a:pPr>
            <a:r>
              <a:rPr b="1" lang="en-US" sz="1600">
                <a:solidFill>
                  <a:srgbClr val="990000"/>
                </a:solidFill>
                <a:latin typeface="Times New Roman"/>
                <a:ea typeface="Times New Roman"/>
                <a:cs typeface="Times New Roman"/>
                <a:sym typeface="Times New Roman"/>
              </a:rPr>
              <a:t>Real Time Monitoring</a:t>
            </a:r>
            <a:r>
              <a:rPr b="1" lang="en-US" sz="1600">
                <a:latin typeface="Times New Roman"/>
                <a:ea typeface="Times New Roman"/>
                <a:cs typeface="Times New Roman"/>
                <a:sym typeface="Times New Roman"/>
              </a:rPr>
              <a:t> :</a:t>
            </a:r>
            <a:r>
              <a:rPr lang="en-US" sz="1600">
                <a:latin typeface="Times New Roman"/>
                <a:ea typeface="Times New Roman"/>
                <a:cs typeface="Times New Roman"/>
                <a:sym typeface="Times New Roman"/>
              </a:rPr>
              <a:t>The system focuses on real-time detection and identification of wild animals through sound-based monitoring.</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b="1" lang="en-US" sz="1600">
                <a:solidFill>
                  <a:srgbClr val="990000"/>
                </a:solidFill>
                <a:latin typeface="Times New Roman"/>
                <a:ea typeface="Times New Roman"/>
                <a:cs typeface="Times New Roman"/>
                <a:sym typeface="Times New Roman"/>
              </a:rPr>
              <a:t>Sound Recognition</a:t>
            </a:r>
            <a:r>
              <a:rPr lang="en-US" sz="1600">
                <a:solidFill>
                  <a:srgbClr val="990000"/>
                </a:solidFill>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a:t>
            </a:r>
            <a:r>
              <a:rPr lang="en-US" sz="1600">
                <a:solidFill>
                  <a:srgbClr val="4A86E8"/>
                </a:solidFill>
                <a:latin typeface="Times New Roman"/>
                <a:ea typeface="Times New Roman"/>
                <a:cs typeface="Times New Roman"/>
                <a:sym typeface="Times New Roman"/>
              </a:rPr>
              <a:t> </a:t>
            </a:r>
            <a:r>
              <a:rPr lang="en-US" sz="1600">
                <a:latin typeface="Times New Roman"/>
                <a:ea typeface="Times New Roman"/>
                <a:cs typeface="Times New Roman"/>
                <a:sym typeface="Times New Roman"/>
              </a:rPr>
              <a:t>It listens to environmental sounds and recognizes animal presence and activity near vulnerable areas.</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b="1" lang="en-US" sz="1600">
                <a:solidFill>
                  <a:srgbClr val="990000"/>
                </a:solidFill>
                <a:latin typeface="Times New Roman"/>
                <a:ea typeface="Times New Roman"/>
                <a:cs typeface="Times New Roman"/>
                <a:sym typeface="Times New Roman"/>
              </a:rPr>
              <a:t>Repellent System</a:t>
            </a:r>
            <a:r>
              <a:rPr b="1" lang="en-US" sz="1600">
                <a:latin typeface="Times New Roman"/>
                <a:ea typeface="Times New Roman"/>
                <a:cs typeface="Times New Roman"/>
                <a:sym typeface="Times New Roman"/>
              </a:rPr>
              <a:t> :</a:t>
            </a:r>
            <a:r>
              <a:rPr lang="en-US" sz="1600">
                <a:latin typeface="Times New Roman"/>
                <a:ea typeface="Times New Roman"/>
                <a:cs typeface="Times New Roman"/>
                <a:sym typeface="Times New Roman"/>
              </a:rPr>
              <a:t> Upon detecting potential threats, it activates suitable deterrents to safely guide animals away from human settlements.</a:t>
            </a:r>
            <a:br>
              <a:rPr lang="en-US" sz="1600">
                <a:latin typeface="Times New Roman"/>
                <a:ea typeface="Times New Roman"/>
                <a:cs typeface="Times New Roman"/>
                <a:sym typeface="Times New Roman"/>
              </a:rPr>
            </a:br>
            <a:endParaRPr sz="1600">
              <a:solidFill>
                <a:srgbClr val="990000"/>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b="1" lang="en-US" sz="1600">
                <a:solidFill>
                  <a:srgbClr val="990000"/>
                </a:solidFill>
                <a:latin typeface="Times New Roman"/>
                <a:ea typeface="Times New Roman"/>
                <a:cs typeface="Times New Roman"/>
                <a:sym typeface="Times New Roman"/>
              </a:rPr>
              <a:t>Alerting System</a:t>
            </a:r>
            <a:r>
              <a:rPr b="1" lang="en-US" sz="1600">
                <a:solidFill>
                  <a:srgbClr val="0000FF"/>
                </a:solidFill>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a:t>
            </a:r>
            <a:r>
              <a:rPr lang="en-US" sz="1600">
                <a:latin typeface="Times New Roman"/>
                <a:ea typeface="Times New Roman"/>
                <a:cs typeface="Times New Roman"/>
                <a:sym typeface="Times New Roman"/>
              </a:rPr>
              <a:t> It also provides timely alerts to concerned individuals or authorities, supporting quick responses and enhancing wildlife protection.</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sz="1400">
              <a:latin typeface="Times New Roman"/>
              <a:ea typeface="Times New Roman"/>
              <a:cs typeface="Times New Roman"/>
              <a:sym typeface="Times New Roman"/>
            </a:endParaRPr>
          </a:p>
        </p:txBody>
      </p:sp>
      <p:sp>
        <p:nvSpPr>
          <p:cNvPr id="128" name="Google Shape;128;p21"/>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 type="body"/>
          </p:nvPr>
        </p:nvSpPr>
        <p:spPr>
          <a:xfrm>
            <a:off x="289950" y="1826525"/>
            <a:ext cx="8358900" cy="49233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US">
                <a:latin typeface="Times New Roman"/>
                <a:ea typeface="Times New Roman"/>
                <a:cs typeface="Times New Roman"/>
                <a:sym typeface="Times New Roman"/>
              </a:rPr>
              <a:t>MOTIVATION</a:t>
            </a:r>
            <a:endParaRPr b="1">
              <a:latin typeface="Times New Roman"/>
              <a:ea typeface="Times New Roman"/>
              <a:cs typeface="Times New Roman"/>
              <a:sym typeface="Times New Roman"/>
            </a:endParaRPr>
          </a:p>
          <a:p>
            <a:pPr indent="-330200" lvl="0" marL="457200" rtl="0" algn="l">
              <a:lnSpc>
                <a:spcPct val="115000"/>
              </a:lnSpc>
              <a:spcBef>
                <a:spcPts val="1200"/>
              </a:spcBef>
              <a:spcAft>
                <a:spcPts val="0"/>
              </a:spcAft>
              <a:buSzPts val="1600"/>
              <a:buAutoNum type="arabicPeriod"/>
            </a:pPr>
            <a:r>
              <a:rPr lang="en-US" sz="1600">
                <a:solidFill>
                  <a:srgbClr val="280099"/>
                </a:solidFill>
                <a:latin typeface="Times New Roman"/>
                <a:ea typeface="Times New Roman"/>
                <a:cs typeface="Times New Roman"/>
                <a:sym typeface="Times New Roman"/>
              </a:rPr>
              <a:t> </a:t>
            </a:r>
            <a:r>
              <a:rPr b="1" lang="en-US" sz="1600">
                <a:solidFill>
                  <a:srgbClr val="280099"/>
                </a:solidFill>
                <a:latin typeface="Times New Roman"/>
                <a:ea typeface="Times New Roman"/>
                <a:cs typeface="Times New Roman"/>
                <a:sym typeface="Times New Roman"/>
              </a:rPr>
              <a:t>Rising human-wildlife conflicts in Kerala</a:t>
            </a:r>
            <a:r>
              <a:rPr lang="en-US" sz="1600">
                <a:latin typeface="Times New Roman"/>
                <a:ea typeface="Times New Roman"/>
                <a:cs typeface="Times New Roman"/>
                <a:sym typeface="Times New Roman"/>
              </a:rPr>
              <a:t> : Attacks from wildlife especially  elephants, tigers and wild boar have led to frequent crop damage, property destruction, and even loss of human lives.</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AutoNum type="arabicPeriod"/>
            </a:pPr>
            <a:r>
              <a:rPr b="1" lang="en-US" sz="1600">
                <a:solidFill>
                  <a:srgbClr val="280099"/>
                </a:solidFill>
                <a:latin typeface="Times New Roman"/>
                <a:ea typeface="Times New Roman"/>
                <a:cs typeface="Times New Roman"/>
                <a:sym typeface="Times New Roman"/>
              </a:rPr>
              <a:t>Animal Intrusion </a:t>
            </a:r>
            <a:r>
              <a:rPr lang="en-US" sz="1600">
                <a:latin typeface="Times New Roman"/>
                <a:ea typeface="Times New Roman"/>
                <a:cs typeface="Times New Roman"/>
                <a:sym typeface="Times New Roman"/>
              </a:rPr>
              <a:t>: Many regions in Kerala, such as Wayanad, Palakkad, and Idukki, share close borders with forest areas, making villages and farmlands highly vulnerable to animal intrusion.</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AutoNum type="arabicPeriod"/>
            </a:pPr>
            <a:r>
              <a:rPr b="1" lang="en-US" sz="1600">
                <a:solidFill>
                  <a:srgbClr val="280099"/>
                </a:solidFill>
                <a:latin typeface="Times New Roman"/>
                <a:ea typeface="Times New Roman"/>
                <a:cs typeface="Times New Roman"/>
                <a:sym typeface="Times New Roman"/>
              </a:rPr>
              <a:t>Traditional Measures</a:t>
            </a:r>
            <a:r>
              <a:rPr lang="en-US" sz="1600">
                <a:latin typeface="Times New Roman"/>
                <a:ea typeface="Times New Roman"/>
                <a:cs typeface="Times New Roman"/>
                <a:sym typeface="Times New Roman"/>
              </a:rPr>
              <a:t> : Methods like electric fencing and firecrackers are often ineffective, unsafe, or harmful to both humans and animals.</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AutoNum type="arabicPeriod"/>
            </a:pPr>
            <a:r>
              <a:rPr b="1" lang="en-US" sz="1600">
                <a:solidFill>
                  <a:srgbClr val="280099"/>
                </a:solidFill>
                <a:latin typeface="Times New Roman"/>
                <a:ea typeface="Times New Roman"/>
                <a:cs typeface="Times New Roman"/>
                <a:sym typeface="Times New Roman"/>
              </a:rPr>
              <a:t>Sustainable Solution</a:t>
            </a:r>
            <a:r>
              <a:rPr lang="en-US" sz="1600">
                <a:latin typeface="Times New Roman"/>
                <a:ea typeface="Times New Roman"/>
                <a:cs typeface="Times New Roman"/>
                <a:sym typeface="Times New Roman"/>
              </a:rPr>
              <a:t> : A sustainable and humane solution is required that can help farmers and communities in Kerala coexist safely with wildlife while supporting conservation efforts.</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100"/>
              <a:t>.</a:t>
            </a:r>
            <a:endParaRPr sz="1100"/>
          </a:p>
          <a:p>
            <a:pPr indent="0" lvl="0" marL="0" rtl="0" algn="l">
              <a:spcBef>
                <a:spcPts val="1200"/>
              </a:spcBef>
              <a:spcAft>
                <a:spcPts val="0"/>
              </a:spcAft>
              <a:buNone/>
            </a:pPr>
            <a:r>
              <a:t/>
            </a:r>
            <a:endParaRPr b="1" sz="1600">
              <a:latin typeface="Times New Roman"/>
              <a:ea typeface="Times New Roman"/>
              <a:cs typeface="Times New Roman"/>
              <a:sym typeface="Times New Roman"/>
            </a:endParaRPr>
          </a:p>
        </p:txBody>
      </p:sp>
      <p:sp>
        <p:nvSpPr>
          <p:cNvPr id="134" name="Google Shape;134;p22"/>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idx="1" type="body"/>
          </p:nvPr>
        </p:nvSpPr>
        <p:spPr>
          <a:xfrm>
            <a:off x="0" y="1274650"/>
            <a:ext cx="9144000" cy="59316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US">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a:p>
            <a:pPr indent="0" lvl="0" marL="0" rtl="0" algn="l">
              <a:spcBef>
                <a:spcPts val="1000"/>
              </a:spcBef>
              <a:spcAft>
                <a:spcPts val="0"/>
              </a:spcAft>
              <a:buNone/>
            </a:pPr>
            <a:r>
              <a:t/>
            </a:r>
            <a:endParaRPr>
              <a:latin typeface="Times New Roman"/>
              <a:ea typeface="Times New Roman"/>
              <a:cs typeface="Times New Roman"/>
              <a:sym typeface="Times New Roman"/>
            </a:endParaRPr>
          </a:p>
          <a:p>
            <a:pPr indent="0" lvl="0" marL="0" rtl="0" algn="l">
              <a:spcBef>
                <a:spcPts val="1000"/>
              </a:spcBef>
              <a:spcAft>
                <a:spcPts val="0"/>
              </a:spcAft>
              <a:buNone/>
            </a:pPr>
            <a:r>
              <a:t/>
            </a:r>
            <a:endParaRPr>
              <a:latin typeface="Times New Roman"/>
              <a:ea typeface="Times New Roman"/>
              <a:cs typeface="Times New Roman"/>
              <a:sym typeface="Times New Roman"/>
            </a:endParaRPr>
          </a:p>
          <a:p>
            <a:pPr indent="0" lvl="0" marL="0" rtl="0" algn="l">
              <a:spcBef>
                <a:spcPts val="100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1000"/>
              </a:spcBef>
              <a:spcAft>
                <a:spcPts val="0"/>
              </a:spcAft>
              <a:buNone/>
            </a:pPr>
            <a:r>
              <a:t/>
            </a:r>
            <a:endParaRPr>
              <a:latin typeface="Times New Roman"/>
              <a:ea typeface="Times New Roman"/>
              <a:cs typeface="Times New Roman"/>
              <a:sym typeface="Times New Roman"/>
            </a:endParaRPr>
          </a:p>
        </p:txBody>
      </p:sp>
      <p:sp>
        <p:nvSpPr>
          <p:cNvPr id="140" name="Google Shape;140;p23"/>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graphicFrame>
        <p:nvGraphicFramePr>
          <p:cNvPr id="141" name="Google Shape;141;p23"/>
          <p:cNvGraphicFramePr/>
          <p:nvPr/>
        </p:nvGraphicFramePr>
        <p:xfrm>
          <a:off x="0" y="1604400"/>
          <a:ext cx="3000000" cy="3000000"/>
        </p:xfrm>
        <a:graphic>
          <a:graphicData uri="http://schemas.openxmlformats.org/drawingml/2006/table">
            <a:tbl>
              <a:tblPr>
                <a:noFill/>
                <a:tableStyleId>{F9A41299-EFBE-47F6-B20A-A8641A39822E}</a:tableStyleId>
              </a:tblPr>
              <a:tblGrid>
                <a:gridCol w="1359975"/>
                <a:gridCol w="1260250"/>
                <a:gridCol w="1260250"/>
                <a:gridCol w="1260250"/>
                <a:gridCol w="1260250"/>
                <a:gridCol w="1260250"/>
                <a:gridCol w="1482775"/>
              </a:tblGrid>
              <a:tr h="893975">
                <a:tc>
                  <a:txBody>
                    <a:bodyPr/>
                    <a:lstStyle/>
                    <a:p>
                      <a:pPr indent="0" lvl="0" marL="0" rtl="0" algn="ctr">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S.No</a:t>
                      </a:r>
                      <a:endParaRPr b="1"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500">
                          <a:solidFill>
                            <a:schemeClr val="dk1"/>
                          </a:solidFill>
                          <a:latin typeface="Times New Roman"/>
                          <a:ea typeface="Times New Roman"/>
                          <a:cs typeface="Times New Roman"/>
                          <a:sym typeface="Times New Roman"/>
                        </a:rPr>
                        <a:t>Article Title</a:t>
                      </a:r>
                      <a:endParaRPr b="1"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500">
                          <a:solidFill>
                            <a:schemeClr val="dk1"/>
                          </a:solidFill>
                          <a:latin typeface="Times New Roman"/>
                          <a:ea typeface="Times New Roman"/>
                          <a:cs typeface="Times New Roman"/>
                          <a:sym typeface="Times New Roman"/>
                        </a:rPr>
                        <a:t>Published Year</a:t>
                      </a:r>
                      <a:endParaRPr b="1"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500">
                          <a:solidFill>
                            <a:schemeClr val="dk1"/>
                          </a:solidFill>
                          <a:latin typeface="Times New Roman"/>
                          <a:ea typeface="Times New Roman"/>
                          <a:cs typeface="Times New Roman"/>
                          <a:sym typeface="Times New Roman"/>
                        </a:rPr>
                        <a:t>Journal Name</a:t>
                      </a:r>
                      <a:endParaRPr b="1"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500">
                          <a:solidFill>
                            <a:schemeClr val="dk1"/>
                          </a:solidFill>
                          <a:latin typeface="Times New Roman"/>
                          <a:ea typeface="Times New Roman"/>
                          <a:cs typeface="Times New Roman"/>
                          <a:sym typeface="Times New Roman"/>
                        </a:rPr>
                        <a:t>Methods/ Algorithm Used</a:t>
                      </a:r>
                      <a:endParaRPr b="1"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500">
                          <a:solidFill>
                            <a:schemeClr val="dk1"/>
                          </a:solidFill>
                          <a:latin typeface="Times New Roman"/>
                          <a:ea typeface="Times New Roman"/>
                          <a:cs typeface="Times New Roman"/>
                          <a:sym typeface="Times New Roman"/>
                        </a:rPr>
                        <a:t>Merits</a:t>
                      </a:r>
                      <a:endParaRPr b="1"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500">
                          <a:solidFill>
                            <a:schemeClr val="dk1"/>
                          </a:solidFill>
                          <a:latin typeface="Times New Roman"/>
                          <a:ea typeface="Times New Roman"/>
                          <a:cs typeface="Times New Roman"/>
                          <a:sym typeface="Times New Roman"/>
                        </a:rPr>
                        <a:t>Demerits</a:t>
                      </a:r>
                      <a:endParaRPr b="1" sz="1500">
                        <a:solidFill>
                          <a:schemeClr val="dk1"/>
                        </a:solidFill>
                        <a:latin typeface="Times New Roman"/>
                        <a:ea typeface="Times New Roman"/>
                        <a:cs typeface="Times New Roman"/>
                        <a:sym typeface="Times New Roman"/>
                      </a:endParaRPr>
                    </a:p>
                  </a:txBody>
                  <a:tcPr marT="91425" marB="91425" marR="91425" marL="91425"/>
                </a:tc>
              </a:tr>
              <a:tr h="2070275">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1. </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Sound Analysis Based Animal Recognition and Repel System for Agriculture</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2023</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Moratuwa Engineering Research Conference (MERCon)</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Sound Pattern Matching using Raw Audio</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Real-time sound-based detection; non-invasive method</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Limited to specific animal sounds; not robust to background noise</a:t>
                      </a:r>
                      <a:endParaRPr sz="1500">
                        <a:solidFill>
                          <a:schemeClr val="dk1"/>
                        </a:solidFill>
                        <a:latin typeface="Times New Roman"/>
                        <a:ea typeface="Times New Roman"/>
                        <a:cs typeface="Times New Roman"/>
                        <a:sym typeface="Times New Roman"/>
                      </a:endParaRPr>
                    </a:p>
                  </a:txBody>
                  <a:tcPr marT="91425" marB="91425" marR="91425" marL="91425"/>
                </a:tc>
              </a:tr>
              <a:tr h="2070275">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2.</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AI-based Elephant Intrusion Detection using </a:t>
                      </a:r>
                      <a:r>
                        <a:rPr lang="en-US" sz="1500">
                          <a:solidFill>
                            <a:schemeClr val="dk1"/>
                          </a:solidFill>
                          <a:latin typeface="Times New Roman"/>
                          <a:ea typeface="Times New Roman"/>
                          <a:cs typeface="Times New Roman"/>
                          <a:sym typeface="Times New Roman"/>
                        </a:rPr>
                        <a:t>YOLO v5</a:t>
                      </a:r>
                      <a:r>
                        <a:rPr lang="en-US" sz="1500">
                          <a:solidFill>
                            <a:schemeClr val="dk1"/>
                          </a:solidFill>
                          <a:latin typeface="Times New Roman"/>
                          <a:ea typeface="Times New Roman"/>
                          <a:cs typeface="Times New Roman"/>
                          <a:sym typeface="Times New Roman"/>
                        </a:rPr>
                        <a:t> and Thermal Cameras</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2023</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Sripatum Review of Science and </a:t>
                      </a:r>
                      <a:r>
                        <a:rPr lang="en-US" sz="1500">
                          <a:solidFill>
                            <a:schemeClr val="dk1"/>
                          </a:solidFill>
                          <a:latin typeface="Times New Roman"/>
                          <a:ea typeface="Times New Roman"/>
                          <a:cs typeface="Times New Roman"/>
                          <a:sym typeface="Times New Roman"/>
                        </a:rPr>
                        <a:t>Technology</a:t>
                      </a:r>
                      <a:r>
                        <a:rPr lang="en-US" sz="1500">
                          <a:solidFill>
                            <a:schemeClr val="dk1"/>
                          </a:solidFill>
                          <a:latin typeface="Times New Roman"/>
                          <a:ea typeface="Times New Roman"/>
                          <a:cs typeface="Times New Roman"/>
                          <a:sym typeface="Times New Roman"/>
                        </a:rPr>
                        <a:t> (Elsevier) </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YOLO v5</a:t>
                      </a:r>
                      <a:r>
                        <a:rPr lang="en-US" sz="1500">
                          <a:solidFill>
                            <a:schemeClr val="dk1"/>
                          </a:solidFill>
                          <a:latin typeface="Times New Roman"/>
                          <a:ea typeface="Times New Roman"/>
                          <a:cs typeface="Times New Roman"/>
                          <a:sym typeface="Times New Roman"/>
                        </a:rPr>
                        <a:t>, Image Processing</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High detection accuracy; works in low-light conditions</a:t>
                      </a:r>
                      <a:endParaRPr sz="15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Expensive hardware; training requires large datasets</a:t>
                      </a:r>
                      <a:endParaRPr sz="15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idx="1" type="body"/>
          </p:nvPr>
        </p:nvSpPr>
        <p:spPr>
          <a:xfrm>
            <a:off x="457350" y="1514650"/>
            <a:ext cx="8229300" cy="4525500"/>
          </a:xfrm>
          <a:prstGeom prst="rect">
            <a:avLst/>
          </a:prstGeom>
        </p:spPr>
        <p:txBody>
          <a:bodyPr anchorCtr="0" anchor="t" bIns="0" lIns="0" spcFirstLastPara="1" rIns="0" wrap="square" tIns="0">
            <a:noAutofit/>
          </a:bodyPr>
          <a:lstStyle/>
          <a:p>
            <a:pPr indent="0" lvl="0" marL="0" rtl="0" algn="just">
              <a:spcBef>
                <a:spcPts val="1000"/>
              </a:spcBef>
              <a:spcAft>
                <a:spcPts val="0"/>
              </a:spcAft>
              <a:buNone/>
            </a:pPr>
            <a:r>
              <a:rPr b="1" lang="en-US">
                <a:latin typeface="Times New Roman"/>
                <a:ea typeface="Times New Roman"/>
                <a:cs typeface="Times New Roman"/>
                <a:sym typeface="Times New Roman"/>
              </a:rPr>
              <a:t>INFERENCE FROM SURVEY</a:t>
            </a:r>
            <a:endParaRPr b="1">
              <a:latin typeface="Times New Roman"/>
              <a:ea typeface="Times New Roman"/>
              <a:cs typeface="Times New Roman"/>
              <a:sym typeface="Times New Roman"/>
            </a:endParaRPr>
          </a:p>
          <a:p>
            <a:pPr indent="-323850" lvl="0" marL="457200" rtl="0" algn="just">
              <a:lnSpc>
                <a:spcPct val="115000"/>
              </a:lnSpc>
              <a:spcBef>
                <a:spcPts val="1000"/>
              </a:spcBef>
              <a:spcAft>
                <a:spcPts val="0"/>
              </a:spcAft>
              <a:buClr>
                <a:schemeClr val="dk2"/>
              </a:buClr>
              <a:buSzPts val="1500"/>
              <a:buFont typeface="Times New Roman"/>
              <a:buAutoNum type="arabicPeriod"/>
            </a:pPr>
            <a:r>
              <a:rPr b="1" lang="en-US" sz="1500">
                <a:solidFill>
                  <a:schemeClr val="dk2"/>
                </a:solidFill>
                <a:highlight>
                  <a:srgbClr val="FFFFFF"/>
                </a:highlight>
                <a:latin typeface="Times New Roman"/>
                <a:ea typeface="Times New Roman"/>
                <a:cs typeface="Times New Roman"/>
                <a:sym typeface="Times New Roman"/>
              </a:rPr>
              <a:t>Diverse Approaches for Detection</a:t>
            </a:r>
            <a:endParaRPr b="1" sz="1500">
              <a:solidFill>
                <a:schemeClr val="dk2"/>
              </a:solidFill>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The surveyed papers explore sound-based and vision-based (thermal imaging + AI) techniques for animal intrusion detection.</a:t>
            </a:r>
            <a:endParaRPr sz="1500">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Sound analysis is non-invasive and works in real-time but struggles with background noise and limited animal sound datasets.</a:t>
            </a:r>
            <a:endParaRPr sz="1500">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AI-based vision systems (</a:t>
            </a:r>
            <a:r>
              <a:rPr lang="en-US" sz="1500">
                <a:highlight>
                  <a:srgbClr val="FFFFFF"/>
                </a:highlight>
                <a:latin typeface="Times New Roman"/>
                <a:ea typeface="Times New Roman"/>
                <a:cs typeface="Times New Roman"/>
                <a:sym typeface="Times New Roman"/>
              </a:rPr>
              <a:t>YOLO v5</a:t>
            </a:r>
            <a:r>
              <a:rPr lang="en-US" sz="1500">
                <a:highlight>
                  <a:srgbClr val="FFFFFF"/>
                </a:highlight>
                <a:latin typeface="Times New Roman"/>
                <a:ea typeface="Times New Roman"/>
                <a:cs typeface="Times New Roman"/>
                <a:sym typeface="Times New Roman"/>
              </a:rPr>
              <a:t> + thermal cameras) offer high accuracy, especially in low-light conditions, but require expensive hardware and extensive training data.</a:t>
            </a:r>
            <a:endParaRPr sz="1500">
              <a:highlight>
                <a:srgbClr val="FFFFFF"/>
              </a:highlight>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2"/>
              </a:buClr>
              <a:buSzPts val="1500"/>
              <a:buFont typeface="Times New Roman"/>
              <a:buAutoNum type="arabicPeriod"/>
            </a:pPr>
            <a:r>
              <a:rPr b="1" lang="en-US" sz="1500">
                <a:solidFill>
                  <a:schemeClr val="dk2"/>
                </a:solidFill>
                <a:highlight>
                  <a:srgbClr val="FFFFFF"/>
                </a:highlight>
                <a:latin typeface="Times New Roman"/>
                <a:ea typeface="Times New Roman"/>
                <a:cs typeface="Times New Roman"/>
                <a:sym typeface="Times New Roman"/>
              </a:rPr>
              <a:t>Trade-offs Between Cost and Performance</a:t>
            </a:r>
            <a:endParaRPr b="1" sz="1500">
              <a:solidFill>
                <a:schemeClr val="dk2"/>
              </a:solidFill>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Low-cost solution: Sound-based systems are economical but less robust in noisy environments.</a:t>
            </a:r>
            <a:endParaRPr sz="1500">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High-accuracy solution: AI-based thermal imaging provides better detection but at a higher cost, making it less scalable for small-scale farms.</a:t>
            </a:r>
            <a:endParaRPr sz="1500">
              <a:highlight>
                <a:srgbClr val="FFFFFF"/>
              </a:highlight>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2"/>
              </a:buClr>
              <a:buSzPts val="1500"/>
              <a:buFont typeface="Times New Roman"/>
              <a:buAutoNum type="arabicPeriod"/>
            </a:pPr>
            <a:r>
              <a:rPr b="1" lang="en-US" sz="1500">
                <a:solidFill>
                  <a:schemeClr val="dk2"/>
                </a:solidFill>
                <a:highlight>
                  <a:srgbClr val="FFFFFF"/>
                </a:highlight>
                <a:latin typeface="Times New Roman"/>
                <a:ea typeface="Times New Roman"/>
                <a:cs typeface="Times New Roman"/>
                <a:sym typeface="Times New Roman"/>
              </a:rPr>
              <a:t>Gaps and Future Improvements</a:t>
            </a:r>
            <a:endParaRPr b="1" sz="1500">
              <a:solidFill>
                <a:schemeClr val="dk2"/>
              </a:solidFill>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Hybrid systems combining sound and vision could improve reliability.</a:t>
            </a:r>
            <a:endParaRPr sz="1500">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Noise filtering algorithms could enhance sound-based detection.</a:t>
            </a:r>
            <a:endParaRPr sz="1500">
              <a:highlight>
                <a:srgbClr val="FFFFFF"/>
              </a:highlight>
              <a:latin typeface="Times New Roman"/>
              <a:ea typeface="Times New Roman"/>
              <a:cs typeface="Times New Roman"/>
              <a:sym typeface="Times New Roman"/>
            </a:endParaRPr>
          </a:p>
          <a:p>
            <a:pPr indent="-323850" lvl="1" marL="914400" rtl="0" algn="just">
              <a:lnSpc>
                <a:spcPct val="115000"/>
              </a:lnSpc>
              <a:spcBef>
                <a:spcPts val="0"/>
              </a:spcBef>
              <a:spcAft>
                <a:spcPts val="0"/>
              </a:spcAft>
              <a:buClr>
                <a:schemeClr val="dk1"/>
              </a:buClr>
              <a:buSzPts val="1500"/>
              <a:buFont typeface="Times New Roman"/>
              <a:buChar char="○"/>
            </a:pPr>
            <a:r>
              <a:rPr lang="en-US" sz="1500">
                <a:highlight>
                  <a:srgbClr val="FFFFFF"/>
                </a:highlight>
                <a:latin typeface="Times New Roman"/>
                <a:ea typeface="Times New Roman"/>
                <a:cs typeface="Times New Roman"/>
                <a:sym typeface="Times New Roman"/>
              </a:rPr>
              <a:t>Lightweight AI models may reduce computational costs for vision-based systems.</a:t>
            </a:r>
            <a:endParaRPr sz="1500">
              <a:highlight>
                <a:srgbClr val="FFFFFF"/>
              </a:highlight>
              <a:latin typeface="Times New Roman"/>
              <a:ea typeface="Times New Roman"/>
              <a:cs typeface="Times New Roman"/>
              <a:sym typeface="Times New Roman"/>
            </a:endParaRPr>
          </a:p>
          <a:p>
            <a:pPr indent="0" lvl="0" marL="0" rtl="0" algn="just">
              <a:spcBef>
                <a:spcPts val="1000"/>
              </a:spcBef>
              <a:spcAft>
                <a:spcPts val="0"/>
              </a:spcAft>
              <a:buNone/>
            </a:pPr>
            <a:r>
              <a:t/>
            </a:r>
            <a:endParaRPr b="1" sz="1500">
              <a:latin typeface="Times New Roman"/>
              <a:ea typeface="Times New Roman"/>
              <a:cs typeface="Times New Roman"/>
              <a:sym typeface="Times New Roman"/>
            </a:endParaRPr>
          </a:p>
        </p:txBody>
      </p:sp>
      <p:sp>
        <p:nvSpPr>
          <p:cNvPr id="147" name="Google Shape;147;p24"/>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idx="1" type="body"/>
          </p:nvPr>
        </p:nvSpPr>
        <p:spPr>
          <a:xfrm>
            <a:off x="270250" y="1551000"/>
            <a:ext cx="8772000" cy="50808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a:latin typeface="Times New Roman"/>
                <a:ea typeface="Times New Roman"/>
                <a:cs typeface="Times New Roman"/>
                <a:sym typeface="Times New Roman"/>
              </a:rPr>
              <a:t>PROBLEM  STATEMENT</a:t>
            </a:r>
            <a:endParaRPr b="1">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1300">
                <a:solidFill>
                  <a:srgbClr val="C0504D"/>
                </a:solidFill>
              </a:rPr>
              <a:t>1</a:t>
            </a:r>
            <a:r>
              <a:rPr b="1" lang="en-US" sz="1300">
                <a:solidFill>
                  <a:srgbClr val="C0504D"/>
                </a:solidFill>
                <a:latin typeface="Times New Roman"/>
                <a:ea typeface="Times New Roman"/>
                <a:cs typeface="Times New Roman"/>
                <a:sym typeface="Times New Roman"/>
              </a:rPr>
              <a:t>.</a:t>
            </a:r>
            <a:r>
              <a:rPr b="1" lang="en-US" sz="1600">
                <a:solidFill>
                  <a:srgbClr val="C0504D"/>
                </a:solidFill>
                <a:latin typeface="Times New Roman"/>
                <a:ea typeface="Times New Roman"/>
                <a:cs typeface="Times New Roman"/>
                <a:sym typeface="Times New Roman"/>
              </a:rPr>
              <a:t> Frequent Human-Wildlife Conflicts </a:t>
            </a: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Communities near forest areas in Kerala face repeated intrusions by wild animals, leading to crop loss, property damage, and threat to human life.</a:t>
            </a:r>
            <a:endParaRPr sz="16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1600">
                <a:solidFill>
                  <a:srgbClr val="C0504D"/>
                </a:solidFill>
                <a:latin typeface="Times New Roman"/>
                <a:ea typeface="Times New Roman"/>
                <a:cs typeface="Times New Roman"/>
                <a:sym typeface="Times New Roman"/>
              </a:rPr>
              <a:t>2. Ineffective Traditional Methods</a:t>
            </a:r>
            <a:r>
              <a:rPr b="1" lang="en-US" sz="1600">
                <a:latin typeface="Times New Roman"/>
                <a:ea typeface="Times New Roman"/>
                <a:cs typeface="Times New Roman"/>
                <a:sym typeface="Times New Roman"/>
              </a:rPr>
              <a:t> :</a:t>
            </a:r>
            <a:endParaRPr b="1" sz="16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Conventional deterrents like firecrackers and electric fences are either harmful, inconsistent, or ineffective in preventing animal entry.</a:t>
            </a:r>
            <a:endParaRPr sz="16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1600">
                <a:solidFill>
                  <a:srgbClr val="C0504D"/>
                </a:solidFill>
                <a:latin typeface="Times New Roman"/>
                <a:ea typeface="Times New Roman"/>
                <a:cs typeface="Times New Roman"/>
                <a:sym typeface="Times New Roman"/>
              </a:rPr>
              <a:t>3. Lack of Real-Time Monitoring :</a:t>
            </a:r>
            <a:endParaRPr b="1" sz="1600">
              <a:solidFill>
                <a:srgbClr val="C0504D"/>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There is no reliable system in place for continuously monitoring animal presence and movement near human settlements and farmlands.</a:t>
            </a:r>
            <a:endParaRPr sz="16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1600">
                <a:solidFill>
                  <a:srgbClr val="C0504D"/>
                </a:solidFill>
                <a:latin typeface="Times New Roman"/>
                <a:ea typeface="Times New Roman"/>
                <a:cs typeface="Times New Roman"/>
                <a:sym typeface="Times New Roman"/>
              </a:rPr>
              <a:t>4. Need for Intelligent and Humane Solutions </a:t>
            </a: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Current systems fail to combine real-time detection, species-specific deterrence, and timely alerts in a way that ensures both human safety and wildlife protection.</a:t>
            </a:r>
            <a:endParaRPr sz="1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spcBef>
                <a:spcPts val="1200"/>
              </a:spcBef>
              <a:spcAft>
                <a:spcPts val="0"/>
              </a:spcAft>
              <a:buNone/>
            </a:pPr>
            <a:r>
              <a:rPr b="1" lang="en-US">
                <a:latin typeface="Times New Roman"/>
                <a:ea typeface="Times New Roman"/>
                <a:cs typeface="Times New Roman"/>
                <a:sym typeface="Times New Roman"/>
              </a:rPr>
              <a:t> </a:t>
            </a:r>
            <a:endParaRPr b="1">
              <a:latin typeface="Times New Roman"/>
              <a:ea typeface="Times New Roman"/>
              <a:cs typeface="Times New Roman"/>
              <a:sym typeface="Times New Roman"/>
            </a:endParaRPr>
          </a:p>
        </p:txBody>
      </p:sp>
      <p:sp>
        <p:nvSpPr>
          <p:cNvPr id="153" name="Google Shape;153;p25"/>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idx="1" type="body"/>
          </p:nvPr>
        </p:nvSpPr>
        <p:spPr>
          <a:xfrm>
            <a:off x="116925" y="1440025"/>
            <a:ext cx="8338500" cy="6435600"/>
          </a:xfrm>
          <a:prstGeom prst="rect">
            <a:avLst/>
          </a:prstGeom>
        </p:spPr>
        <p:txBody>
          <a:bodyPr anchorCtr="0" anchor="t" bIns="0" lIns="0" spcFirstLastPara="1" rIns="0" wrap="square" tIns="0">
            <a:noAutofit/>
          </a:bodyPr>
          <a:lstStyle/>
          <a:p>
            <a:pPr indent="0" lvl="0" marL="0" rtl="0" algn="just">
              <a:lnSpc>
                <a:spcPct val="115000"/>
              </a:lnSpc>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DATASET DETAILS</a:t>
            </a:r>
            <a:endParaRPr b="1">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sz="1600">
                <a:latin typeface="Times New Roman"/>
                <a:ea typeface="Times New Roman"/>
                <a:cs typeface="Times New Roman"/>
                <a:sym typeface="Times New Roman"/>
              </a:rPr>
              <a:t>  </a:t>
            </a:r>
            <a:endParaRPr b="1" sz="1400">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b="1" sz="1400">
              <a:latin typeface="Times New Roman"/>
              <a:ea typeface="Times New Roman"/>
              <a:cs typeface="Times New Roman"/>
              <a:sym typeface="Times New Roman"/>
            </a:endParaRPr>
          </a:p>
          <a:p>
            <a:pPr indent="0" lvl="0" marL="0" rtl="0" algn="just">
              <a:lnSpc>
                <a:spcPct val="115000"/>
              </a:lnSpc>
              <a:spcBef>
                <a:spcPts val="1200"/>
              </a:spcBef>
              <a:spcAft>
                <a:spcPts val="1200"/>
              </a:spcAft>
              <a:buClr>
                <a:schemeClr val="dk1"/>
              </a:buClr>
              <a:buSzPts val="1100"/>
              <a:buFont typeface="Arial"/>
              <a:buNone/>
            </a:pP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p:txBody>
      </p:sp>
      <p:sp>
        <p:nvSpPr>
          <p:cNvPr id="159" name="Google Shape;159;p26"/>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graphicFrame>
        <p:nvGraphicFramePr>
          <p:cNvPr id="160" name="Google Shape;160;p26"/>
          <p:cNvGraphicFramePr/>
          <p:nvPr/>
        </p:nvGraphicFramePr>
        <p:xfrm>
          <a:off x="116925" y="1804550"/>
          <a:ext cx="3000000" cy="3000000"/>
        </p:xfrm>
        <a:graphic>
          <a:graphicData uri="http://schemas.openxmlformats.org/drawingml/2006/table">
            <a:tbl>
              <a:tblPr>
                <a:noFill/>
                <a:tableStyleId>{F9A41299-EFBE-47F6-B20A-A8641A39822E}</a:tableStyleId>
              </a:tblPr>
              <a:tblGrid>
                <a:gridCol w="1923800"/>
                <a:gridCol w="1824625"/>
                <a:gridCol w="1794875"/>
                <a:gridCol w="1809750"/>
              </a:tblGrid>
              <a:tr h="60562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Target Sound</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Dataset Name / Source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Deta</a:t>
                      </a:r>
                      <a:r>
                        <a:rPr lang="en-US">
                          <a:latin typeface="Times New Roman"/>
                          <a:ea typeface="Times New Roman"/>
                          <a:cs typeface="Times New Roman"/>
                          <a:sym typeface="Times New Roman"/>
                        </a:rPr>
                        <a:t>ils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Download Link</a:t>
                      </a:r>
                      <a:endParaRPr>
                        <a:latin typeface="Times New Roman"/>
                        <a:ea typeface="Times New Roman"/>
                        <a:cs typeface="Times New Roman"/>
                        <a:sym typeface="Times New Roman"/>
                      </a:endParaRPr>
                    </a:p>
                  </a:txBody>
                  <a:tcPr marT="91425" marB="91425" marR="91425" marL="91425"/>
                </a:tc>
              </a:tr>
              <a:tr h="973450">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Tiger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Macaulay Library(Cornell Lab)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Wildlife vocalizations(searchable)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a:t>
                      </a:r>
                      <a:r>
                        <a:rPr lang="en-US" u="sng">
                          <a:solidFill>
                            <a:schemeClr val="hlink"/>
                          </a:solidFill>
                          <a:latin typeface="Times New Roman"/>
                          <a:ea typeface="Times New Roman"/>
                          <a:cs typeface="Times New Roman"/>
                          <a:sym typeface="Times New Roman"/>
                          <a:hlinkClick r:id="rId3"/>
                        </a:rPr>
                        <a:t> Macaulay: Tiger sounds</a:t>
                      </a:r>
                      <a:endParaRPr>
                        <a:latin typeface="Times New Roman"/>
                        <a:ea typeface="Times New Roman"/>
                        <a:cs typeface="Times New Roman"/>
                        <a:sym typeface="Times New Roman"/>
                      </a:endParaRPr>
                    </a:p>
                  </a:txBody>
                  <a:tcPr marT="91425" marB="91425" marR="91425" marL="91425"/>
                </a:tc>
              </a:tr>
              <a:tr h="60562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Elephant</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ElephantVoices Sound Library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100+ Africa and Asian elephant calls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u="sng">
                          <a:solidFill>
                            <a:schemeClr val="hlink"/>
                          </a:solidFill>
                          <a:latin typeface="Times New Roman"/>
                          <a:ea typeface="Times New Roman"/>
                          <a:cs typeface="Times New Roman"/>
                          <a:sym typeface="Times New Roman"/>
                          <a:hlinkClick r:id="rId4"/>
                        </a:rPr>
                        <a:t>ElephantVoices</a:t>
                      </a:r>
                      <a:endParaRPr>
                        <a:latin typeface="Times New Roman"/>
                        <a:ea typeface="Times New Roman"/>
                        <a:cs typeface="Times New Roman"/>
                        <a:sym typeface="Times New Roman"/>
                      </a:endParaRPr>
                    </a:p>
                  </a:txBody>
                  <a:tcPr marT="91425" marB="91425" marR="91425" marL="91425"/>
                </a:tc>
              </a:tr>
              <a:tr h="60562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WildBoar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BBC Sound Effects Archive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Wild boar grunts and noises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u="sng">
                          <a:solidFill>
                            <a:schemeClr val="hlink"/>
                          </a:solidFill>
                          <a:latin typeface="Times New Roman"/>
                          <a:ea typeface="Times New Roman"/>
                          <a:cs typeface="Times New Roman"/>
                          <a:sym typeface="Times New Roman"/>
                          <a:hlinkClick r:id="rId5"/>
                        </a:rPr>
                        <a:t>BBC Wild Boar Sounds</a:t>
                      </a:r>
                      <a:endParaRPr>
                        <a:latin typeface="Times New Roman"/>
                        <a:ea typeface="Times New Roman"/>
                        <a:cs typeface="Times New Roman"/>
                        <a:sym typeface="Times New Roman"/>
                      </a:endParaRPr>
                    </a:p>
                  </a:txBody>
                  <a:tcPr marT="91425" marB="91425" marR="91425" marL="91425"/>
                </a:tc>
              </a:tr>
              <a:tr h="60562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Gunshot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Google AudioSet+</a:t>
                      </a:r>
                      <a:endParaRPr>
                        <a:latin typeface="Times New Roman"/>
                        <a:ea typeface="Times New Roman"/>
                        <a:cs typeface="Times New Roman"/>
                        <a:sym typeface="Times New Roman"/>
                      </a:endParaRPr>
                    </a:p>
                    <a:p>
                      <a:pPr indent="0" lvl="0" marL="0" rtl="0" algn="l">
                        <a:spcBef>
                          <a:spcPts val="0"/>
                        </a:spcBef>
                        <a:spcAft>
                          <a:spcPts val="0"/>
                        </a:spcAft>
                        <a:buNone/>
                      </a:pPr>
                      <a:r>
                        <a:rPr lang="en-US">
                          <a:latin typeface="Times New Roman"/>
                          <a:ea typeface="Times New Roman"/>
                          <a:cs typeface="Times New Roman"/>
                          <a:sym typeface="Times New Roman"/>
                        </a:rPr>
                        <a:t>freesound</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Annotated gunshot audio segments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u="sng">
                          <a:solidFill>
                            <a:schemeClr val="hlink"/>
                          </a:solidFill>
                          <a:latin typeface="Times New Roman"/>
                          <a:ea typeface="Times New Roman"/>
                          <a:cs typeface="Times New Roman"/>
                          <a:sym typeface="Times New Roman"/>
                          <a:hlinkClick r:id="rId6"/>
                        </a:rPr>
                        <a:t> AudioSet Gunshot</a:t>
                      </a:r>
                      <a:endParaRPr>
                        <a:latin typeface="Times New Roman"/>
                        <a:ea typeface="Times New Roman"/>
                        <a:cs typeface="Times New Roman"/>
                        <a:sym typeface="Times New Roman"/>
                      </a:endParaRPr>
                    </a:p>
                  </a:txBody>
                  <a:tcPr marT="91425" marB="91425" marR="91425" marL="91425"/>
                </a:tc>
              </a:tr>
              <a:tr h="81762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Chainsaw</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Freesound.org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Chainsaw engine,cutting,revving sounds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u="sng">
                          <a:solidFill>
                            <a:schemeClr val="hlink"/>
                          </a:solidFill>
                          <a:hlinkClick r:id="rId7"/>
                        </a:rPr>
                        <a:t>Freesound Chainsaw</a:t>
                      </a:r>
                      <a:endParaRPr/>
                    </a:p>
                  </a:txBody>
                  <a:tcPr marT="91425" marB="91425" marR="91425" marL="91425"/>
                </a:tc>
              </a:tr>
              <a:tr h="378550">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Human voice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Mozilla Common voice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1000+ hours of multilingual voice data</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u="sng">
                          <a:solidFill>
                            <a:schemeClr val="hlink"/>
                          </a:solidFill>
                          <a:hlinkClick r:id="rId8"/>
                        </a:rPr>
                        <a:t>Common Voice</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26575" y="1475252"/>
            <a:ext cx="6037800" cy="645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sz="2800">
                <a:latin typeface="Times New Roman"/>
                <a:ea typeface="Times New Roman"/>
                <a:cs typeface="Times New Roman"/>
                <a:sym typeface="Times New Roman"/>
              </a:rPr>
              <a:t>PROPOSED SYSTEM</a:t>
            </a:r>
            <a:endParaRPr b="1" sz="2800">
              <a:latin typeface="Times New Roman"/>
              <a:ea typeface="Times New Roman"/>
              <a:cs typeface="Times New Roman"/>
              <a:sym typeface="Times New Roman"/>
            </a:endParaRPr>
          </a:p>
        </p:txBody>
      </p:sp>
      <p:sp>
        <p:nvSpPr>
          <p:cNvPr id="166" name="Google Shape;166;p27"/>
          <p:cNvSpPr txBox="1"/>
          <p:nvPr>
            <p:ph idx="1" type="body"/>
          </p:nvPr>
        </p:nvSpPr>
        <p:spPr>
          <a:xfrm>
            <a:off x="326575" y="1998725"/>
            <a:ext cx="8229300" cy="48594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sz="1600">
                <a:solidFill>
                  <a:srgbClr val="CC0000"/>
                </a:solidFill>
                <a:latin typeface="Times New Roman"/>
                <a:ea typeface="Times New Roman"/>
                <a:cs typeface="Times New Roman"/>
                <a:sym typeface="Times New Roman"/>
              </a:rPr>
              <a:t>Overview</a:t>
            </a:r>
            <a:r>
              <a:rPr b="1" lang="en-US" sz="1600">
                <a:latin typeface="Times New Roman"/>
                <a:ea typeface="Times New Roman"/>
                <a:cs typeface="Times New Roman"/>
                <a:sym typeface="Times New Roman"/>
              </a:rPr>
              <a:t> :</a:t>
            </a:r>
            <a:endParaRPr b="1" sz="1600">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lang="en-US" sz="1600">
                <a:latin typeface="Times New Roman"/>
                <a:ea typeface="Times New Roman"/>
                <a:cs typeface="Times New Roman"/>
                <a:sym typeface="Times New Roman"/>
              </a:rPr>
              <a:t>A fully automated, solar-powered animal recognition and repelling system. The device detects an animal, identifies its species from audio signatures, activates the appropriate ultrasonic and visual deterrents, and immediately notifies the user ,all without human intervention.</a:t>
            </a:r>
            <a:endParaRPr sz="1600">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US" sz="1600">
                <a:solidFill>
                  <a:srgbClr val="CC0000"/>
                </a:solidFill>
                <a:latin typeface="Times New Roman"/>
                <a:ea typeface="Times New Roman"/>
                <a:cs typeface="Times New Roman"/>
                <a:sym typeface="Times New Roman"/>
              </a:rPr>
              <a:t>Key Components </a:t>
            </a: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p>
            <a:pPr indent="-330200" lvl="0" marL="457200" rtl="0" algn="l">
              <a:lnSpc>
                <a:spcPct val="115000"/>
              </a:lnSpc>
              <a:spcBef>
                <a:spcPts val="1000"/>
              </a:spcBef>
              <a:spcAft>
                <a:spcPts val="0"/>
              </a:spcAft>
              <a:buSzPts val="1600"/>
              <a:buFont typeface="Times New Roman"/>
              <a:buChar char="•"/>
            </a:pPr>
            <a:r>
              <a:rPr b="1" lang="en-US" sz="1600">
                <a:latin typeface="Times New Roman"/>
                <a:ea typeface="Times New Roman"/>
                <a:cs typeface="Times New Roman"/>
                <a:sym typeface="Times New Roman"/>
              </a:rPr>
              <a:t>PIR Sensors </a:t>
            </a:r>
            <a:r>
              <a:rPr lang="en-US" sz="1600">
                <a:latin typeface="Times New Roman"/>
                <a:ea typeface="Times New Roman"/>
                <a:cs typeface="Times New Roman"/>
                <a:sym typeface="Times New Roman"/>
              </a:rPr>
              <a:t>– Detect motion and trigger the recognition process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Microphone</a:t>
            </a:r>
            <a:r>
              <a:rPr lang="en-US" sz="1600">
                <a:latin typeface="Times New Roman"/>
                <a:ea typeface="Times New Roman"/>
                <a:cs typeface="Times New Roman"/>
                <a:sym typeface="Times New Roman"/>
              </a:rPr>
              <a:t> – Captures environmental audio for analysis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Raspberry Pi 4</a:t>
            </a:r>
            <a:r>
              <a:rPr lang="en-US" sz="1600">
                <a:latin typeface="Times New Roman"/>
                <a:ea typeface="Times New Roman"/>
                <a:cs typeface="Times New Roman"/>
                <a:sym typeface="Times New Roman"/>
              </a:rPr>
              <a:t> – Central controller for processing and system logic</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SOPARE Engine</a:t>
            </a:r>
            <a:r>
              <a:rPr lang="en-US" sz="1600">
                <a:latin typeface="Times New Roman"/>
                <a:ea typeface="Times New Roman"/>
                <a:cs typeface="Times New Roman"/>
                <a:sym typeface="Times New Roman"/>
              </a:rPr>
              <a:t> – Identifies animal type based on sound pattern recognition</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LDR Sensor</a:t>
            </a:r>
            <a:r>
              <a:rPr lang="en-US" sz="1600">
                <a:latin typeface="Times New Roman"/>
                <a:ea typeface="Times New Roman"/>
                <a:cs typeface="Times New Roman"/>
                <a:sym typeface="Times New Roman"/>
              </a:rPr>
              <a:t> – Detects darkness to activate LED only in low-light conditions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High-Intensity LED</a:t>
            </a:r>
            <a:r>
              <a:rPr lang="en-US" sz="1600">
                <a:latin typeface="Times New Roman"/>
                <a:ea typeface="Times New Roman"/>
                <a:cs typeface="Times New Roman"/>
                <a:sym typeface="Times New Roman"/>
              </a:rPr>
              <a:t> – Provides visual deterrent (used at night)</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Ultrasonic Speaker</a:t>
            </a:r>
            <a:r>
              <a:rPr lang="en-US" sz="1600">
                <a:latin typeface="Times New Roman"/>
                <a:ea typeface="Times New Roman"/>
                <a:cs typeface="Times New Roman"/>
                <a:sym typeface="Times New Roman"/>
              </a:rPr>
              <a:t> – Emits species-specific frequencies to repel animals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GSM Module (SIM800L)</a:t>
            </a:r>
            <a:r>
              <a:rPr lang="en-US" sz="1600">
                <a:latin typeface="Times New Roman"/>
                <a:ea typeface="Times New Roman"/>
                <a:cs typeface="Times New Roman"/>
                <a:sym typeface="Times New Roman"/>
              </a:rPr>
              <a:t> – Sends SMS alerts to notify the user</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Solar Panel + Battery</a:t>
            </a:r>
            <a:r>
              <a:rPr lang="en-US" sz="1600">
                <a:latin typeface="Times New Roman"/>
                <a:ea typeface="Times New Roman"/>
                <a:cs typeface="Times New Roman"/>
                <a:sym typeface="Times New Roman"/>
              </a:rPr>
              <a:t> – Powers the system continuously and portably</a:t>
            </a:r>
            <a:br>
              <a:rPr lang="en-US" sz="1600">
                <a:latin typeface="Times New Roman"/>
                <a:ea typeface="Times New Roman"/>
                <a:cs typeface="Times New Roman"/>
                <a:sym typeface="Times New Roman"/>
              </a:rPr>
            </a:br>
            <a:endParaRPr b="1" sz="1600">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sz="1600">
              <a:latin typeface="Times New Roman"/>
              <a:ea typeface="Times New Roman"/>
              <a:cs typeface="Times New Roman"/>
              <a:sym typeface="Times New Roman"/>
            </a:endParaRPr>
          </a:p>
        </p:txBody>
      </p:sp>
      <p:sp>
        <p:nvSpPr>
          <p:cNvPr id="167" name="Google Shape;167;p27"/>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idx="1" type="body"/>
          </p:nvPr>
        </p:nvSpPr>
        <p:spPr>
          <a:xfrm>
            <a:off x="273750" y="1488525"/>
            <a:ext cx="8213400" cy="44874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US"/>
              <a:t>Flow Diagram </a:t>
            </a:r>
            <a:endParaRPr b="1"/>
          </a:p>
        </p:txBody>
      </p:sp>
      <p:sp>
        <p:nvSpPr>
          <p:cNvPr id="173" name="Google Shape;173;p28"/>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pic>
        <p:nvPicPr>
          <p:cNvPr id="174" name="Google Shape;174;p28" title="dfd.jpg"/>
          <p:cNvPicPr preferRelativeResize="0"/>
          <p:nvPr/>
        </p:nvPicPr>
        <p:blipFill>
          <a:blip r:embed="rId3">
            <a:alphaModFix/>
          </a:blip>
          <a:stretch>
            <a:fillRect/>
          </a:stretch>
        </p:blipFill>
        <p:spPr>
          <a:xfrm>
            <a:off x="89300" y="1878775"/>
            <a:ext cx="9144001" cy="50625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idx="1" type="body"/>
          </p:nvPr>
        </p:nvSpPr>
        <p:spPr>
          <a:xfrm>
            <a:off x="175500" y="2338975"/>
            <a:ext cx="8500800" cy="4406700"/>
          </a:xfrm>
          <a:prstGeom prst="rect">
            <a:avLst/>
          </a:prstGeom>
        </p:spPr>
        <p:txBody>
          <a:bodyPr anchorCtr="0" anchor="t" bIns="0" lIns="0" spcFirstLastPara="1" rIns="0" wrap="square" tIns="0">
            <a:noAutofit/>
          </a:bodyPr>
          <a:lstStyle/>
          <a:p>
            <a:pPr indent="-330200" lvl="0" marL="457200" rtl="0" algn="l">
              <a:lnSpc>
                <a:spcPct val="115000"/>
              </a:lnSpc>
              <a:spcBef>
                <a:spcPts val="1200"/>
              </a:spcBef>
              <a:spcAft>
                <a:spcPts val="0"/>
              </a:spcAft>
              <a:buSzPts val="1600"/>
              <a:buFont typeface="Times New Roman"/>
              <a:buChar char="•"/>
            </a:pPr>
            <a:r>
              <a:rPr b="1" lang="en-US" sz="1600">
                <a:solidFill>
                  <a:srgbClr val="990000"/>
                </a:solidFill>
                <a:latin typeface="Times New Roman"/>
                <a:ea typeface="Times New Roman"/>
                <a:cs typeface="Times New Roman"/>
                <a:sym typeface="Times New Roman"/>
              </a:rPr>
              <a:t>Animal Identification via Sound</a:t>
            </a:r>
            <a:r>
              <a:rPr b="1" lang="en-US" sz="1600">
                <a:latin typeface="Times New Roman"/>
                <a:ea typeface="Times New Roman"/>
                <a:cs typeface="Times New Roman"/>
                <a:sym typeface="Times New Roman"/>
              </a:rPr>
              <a:t> :</a:t>
            </a:r>
            <a:r>
              <a:rPr lang="en-US" sz="1600">
                <a:latin typeface="Times New Roman"/>
                <a:ea typeface="Times New Roman"/>
                <a:cs typeface="Times New Roman"/>
                <a:sym typeface="Times New Roman"/>
              </a:rPr>
              <a:t> This design uses audio pattern recognition (SOPARE) to identify animals based on their real-time vocalizations or movement sounds.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solidFill>
                  <a:srgbClr val="990000"/>
                </a:solidFill>
                <a:latin typeface="Times New Roman"/>
                <a:ea typeface="Times New Roman"/>
                <a:cs typeface="Times New Roman"/>
                <a:sym typeface="Times New Roman"/>
              </a:rPr>
              <a:t> Local Processing (Edge AI)</a:t>
            </a:r>
            <a:r>
              <a:rPr b="1" lang="en-US" sz="1600">
                <a:latin typeface="Times New Roman"/>
                <a:ea typeface="Times New Roman"/>
                <a:cs typeface="Times New Roman"/>
                <a:sym typeface="Times New Roman"/>
              </a:rPr>
              <a:t> : </a:t>
            </a:r>
            <a:r>
              <a:rPr lang="en-US" sz="1600">
                <a:latin typeface="Times New Roman"/>
                <a:ea typeface="Times New Roman"/>
                <a:cs typeface="Times New Roman"/>
                <a:sym typeface="Times New Roman"/>
              </a:rPr>
              <a:t>The use of a Raspberry Pi enables local decision-making and processing, eliminating the need for internet connectivity or cloud services.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solidFill>
                  <a:srgbClr val="990000"/>
                </a:solidFill>
                <a:latin typeface="Times New Roman"/>
                <a:ea typeface="Times New Roman"/>
                <a:cs typeface="Times New Roman"/>
                <a:sym typeface="Times New Roman"/>
              </a:rPr>
              <a:t>Species-Specific Repelling </a:t>
            </a:r>
            <a:r>
              <a:rPr b="1" lang="en-US" sz="1600">
                <a:latin typeface="Times New Roman"/>
                <a:ea typeface="Times New Roman"/>
                <a:cs typeface="Times New Roman"/>
                <a:sym typeface="Times New Roman"/>
              </a:rPr>
              <a:t>:</a:t>
            </a:r>
            <a:r>
              <a:rPr lang="en-US" sz="1600">
                <a:latin typeface="Times New Roman"/>
                <a:ea typeface="Times New Roman"/>
                <a:cs typeface="Times New Roman"/>
                <a:sym typeface="Times New Roman"/>
              </a:rPr>
              <a:t> The system emits ultrasonic frequencies customized to specific species, maximizing discomfort and effectiveness while avoiding overuse of generic deterrents.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solidFill>
                  <a:srgbClr val="990000"/>
                </a:solidFill>
                <a:latin typeface="Times New Roman"/>
                <a:ea typeface="Times New Roman"/>
                <a:cs typeface="Times New Roman"/>
                <a:sym typeface="Times New Roman"/>
              </a:rPr>
              <a:t>Dual-Mode Repelling System</a:t>
            </a:r>
            <a:r>
              <a:rPr b="1" lang="en-US" sz="1600">
                <a:latin typeface="Times New Roman"/>
                <a:ea typeface="Times New Roman"/>
                <a:cs typeface="Times New Roman"/>
                <a:sym typeface="Times New Roman"/>
              </a:rPr>
              <a:t> : </a:t>
            </a:r>
            <a:r>
              <a:rPr lang="en-US" sz="1600">
                <a:latin typeface="Times New Roman"/>
                <a:ea typeface="Times New Roman"/>
                <a:cs typeface="Times New Roman"/>
                <a:sym typeface="Times New Roman"/>
              </a:rPr>
              <a:t>Combines ultrasonic sound and bright LED flashing. The LED activates only in dark conditions, intelligently conserving power and enhancing deterrence at night.</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solidFill>
                  <a:srgbClr val="990000"/>
                </a:solidFill>
                <a:latin typeface="Times New Roman"/>
                <a:ea typeface="Times New Roman"/>
                <a:cs typeface="Times New Roman"/>
                <a:sym typeface="Times New Roman"/>
              </a:rPr>
              <a:t>Real-Time SMS Alerts</a:t>
            </a:r>
            <a:r>
              <a:rPr b="1" lang="en-US" sz="1600">
                <a:latin typeface="Times New Roman"/>
                <a:ea typeface="Times New Roman"/>
                <a:cs typeface="Times New Roman"/>
                <a:sym typeface="Times New Roman"/>
              </a:rPr>
              <a:t> : </a:t>
            </a:r>
            <a:r>
              <a:rPr lang="en-US" sz="1600">
                <a:latin typeface="Times New Roman"/>
                <a:ea typeface="Times New Roman"/>
                <a:cs typeface="Times New Roman"/>
                <a:sym typeface="Times New Roman"/>
              </a:rPr>
              <a:t>Integrates a GSM module to instantly notify the user of animal type and system status, enhancing response capability and remote monitoring.</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solidFill>
                  <a:srgbClr val="990000"/>
                </a:solidFill>
                <a:latin typeface="Times New Roman"/>
                <a:ea typeface="Times New Roman"/>
                <a:cs typeface="Times New Roman"/>
                <a:sym typeface="Times New Roman"/>
              </a:rPr>
              <a:t>Solar-Powered Portability</a:t>
            </a:r>
            <a:r>
              <a:rPr b="1" lang="en-US" sz="1600">
                <a:latin typeface="Times New Roman"/>
                <a:ea typeface="Times New Roman"/>
                <a:cs typeface="Times New Roman"/>
                <a:sym typeface="Times New Roman"/>
              </a:rPr>
              <a:t> :</a:t>
            </a:r>
            <a:r>
              <a:rPr lang="en-US" sz="1600">
                <a:latin typeface="Times New Roman"/>
                <a:ea typeface="Times New Roman"/>
                <a:cs typeface="Times New Roman"/>
                <a:sym typeface="Times New Roman"/>
              </a:rPr>
              <a:t> Designed with a solar-charged battery, the system functions independently of grid power and can be easily deployed in off-grid or remote areas.</a:t>
            </a:r>
            <a:endParaRPr sz="1600">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1600">
              <a:latin typeface="Times New Roman"/>
              <a:ea typeface="Times New Roman"/>
              <a:cs typeface="Times New Roman"/>
              <a:sym typeface="Times New Roman"/>
            </a:endParaRPr>
          </a:p>
        </p:txBody>
      </p:sp>
      <p:sp>
        <p:nvSpPr>
          <p:cNvPr id="180" name="Google Shape;180;p29"/>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181" name="Google Shape;181;p29"/>
          <p:cNvSpPr txBox="1"/>
          <p:nvPr/>
        </p:nvSpPr>
        <p:spPr>
          <a:xfrm>
            <a:off x="293075" y="1559675"/>
            <a:ext cx="7615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Times New Roman"/>
                <a:ea typeface="Times New Roman"/>
                <a:cs typeface="Times New Roman"/>
                <a:sym typeface="Times New Roman"/>
              </a:rPr>
              <a:t>NOVELTY OF THE PROPOSED SYSTEM</a:t>
            </a:r>
            <a:endParaRPr b="1" sz="28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idx="1" type="body"/>
          </p:nvPr>
        </p:nvSpPr>
        <p:spPr>
          <a:xfrm>
            <a:off x="301350" y="2032500"/>
            <a:ext cx="8610000" cy="47154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1: Initialization</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Load SOPARE configuration parameters (e.g., sample rate, chunk size, threshold values).</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Initialize the audio processing environment.</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2: Training Phase (One-time Setup)</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Record audio samples of target classes (e.g., elephant, tiger, chainsaw).</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Convert the recorded sound into numeric feature chains.</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Store the processed features as known patterns in the audio factory.</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3: Real-time Sound Capture (Recognition Phase)</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When motion is detected, start recording live audio using a microphone.</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Store the incoming audio in a temporary buffer.</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4: Noise Filtering</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Analyze the amplitude of the incoming sound.</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Apply a threshold filter to remove low-amplitude background noise.</a:t>
            </a:r>
            <a:endParaRPr b="1" sz="1600">
              <a:solidFill>
                <a:srgbClr val="0B5394"/>
              </a:solidFill>
              <a:latin typeface="Times New Roman"/>
              <a:ea typeface="Times New Roman"/>
              <a:cs typeface="Times New Roman"/>
              <a:sym typeface="Times New Roman"/>
            </a:endParaRPr>
          </a:p>
        </p:txBody>
      </p:sp>
      <p:sp>
        <p:nvSpPr>
          <p:cNvPr id="187" name="Google Shape;187;p30"/>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188" name="Google Shape;188;p30"/>
          <p:cNvSpPr txBox="1"/>
          <p:nvPr/>
        </p:nvSpPr>
        <p:spPr>
          <a:xfrm>
            <a:off x="301350" y="1403000"/>
            <a:ext cx="4323900" cy="5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Times New Roman"/>
                <a:ea typeface="Times New Roman"/>
                <a:cs typeface="Times New Roman"/>
                <a:sym typeface="Times New Roman"/>
              </a:rPr>
              <a:t>ALGORITHM </a:t>
            </a:r>
            <a:endParaRPr b="1" sz="2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1" type="body"/>
          </p:nvPr>
        </p:nvSpPr>
        <p:spPr>
          <a:xfrm>
            <a:off x="370950" y="1903400"/>
            <a:ext cx="8402100" cy="47913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5: Feature Extraction</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Process the filtered audio to extract waveform features (e.g., frequency peaks, time-domain patterns).</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Convert the audio into short-term feature chains that describe the sound’s shape and intensity.</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6: Pattern Matching</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Compare the real-time feature chain with all stored patterns in the audio factory.</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Measure similarity using internal SOPARE distance metrics.</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7: Classification</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If a match exceeds the similarity threshold, classify the sound with the matching label (e.g., "tiger").</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If no match is found, return “unknown”.</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1600">
                <a:solidFill>
                  <a:srgbClr val="0B5394"/>
                </a:solidFill>
                <a:latin typeface="Times New Roman"/>
                <a:ea typeface="Times New Roman"/>
                <a:cs typeface="Times New Roman"/>
                <a:sym typeface="Times New Roman"/>
              </a:rPr>
              <a:t>Step 8: Output Result</a:t>
            </a:r>
            <a:endParaRPr b="1" sz="1600">
              <a:solidFill>
                <a:srgbClr val="0B5394"/>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Pass the identified label to the rest of the system (e.g., to trigger ultrasonic repellents or SMS alerts).</a:t>
            </a:r>
            <a:endParaRPr sz="1600">
              <a:latin typeface="Times New Roman"/>
              <a:ea typeface="Times New Roman"/>
              <a:cs typeface="Times New Roman"/>
              <a:sym typeface="Times New Roman"/>
            </a:endParaRPr>
          </a:p>
          <a:p>
            <a:pPr indent="-330200" lvl="0" marL="457200" rtl="0" algn="l">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Reset buffer and return to listening mode.</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b="1" sz="1600">
              <a:solidFill>
                <a:srgbClr val="0B5394"/>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194" name="Google Shape;194;p31"/>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195" name="Google Shape;195;p31"/>
          <p:cNvSpPr txBox="1"/>
          <p:nvPr/>
        </p:nvSpPr>
        <p:spPr>
          <a:xfrm>
            <a:off x="370950" y="1313100"/>
            <a:ext cx="4323900" cy="5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Times New Roman"/>
                <a:ea typeface="Times New Roman"/>
                <a:cs typeface="Times New Roman"/>
                <a:sym typeface="Times New Roman"/>
              </a:rPr>
              <a:t>ALGORITHM </a:t>
            </a:r>
            <a:endParaRPr b="1" sz="28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201" name="Google Shape;201;p32"/>
          <p:cNvSpPr txBox="1"/>
          <p:nvPr/>
        </p:nvSpPr>
        <p:spPr>
          <a:xfrm>
            <a:off x="281875" y="1771075"/>
            <a:ext cx="8274900" cy="5028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2800">
                <a:solidFill>
                  <a:schemeClr val="dk1"/>
                </a:solidFill>
                <a:latin typeface="Times New Roman"/>
                <a:ea typeface="Times New Roman"/>
                <a:cs typeface="Times New Roman"/>
                <a:sym typeface="Times New Roman"/>
              </a:rPr>
              <a:t>CONCLUSION</a:t>
            </a:r>
            <a:endParaRPr b="1" sz="28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AutoNum type="arabicPeriod"/>
            </a:pPr>
            <a:r>
              <a:rPr lang="en-US" sz="1600">
                <a:solidFill>
                  <a:schemeClr val="dk1"/>
                </a:solidFill>
                <a:latin typeface="Times New Roman"/>
                <a:ea typeface="Times New Roman"/>
                <a:cs typeface="Times New Roman"/>
                <a:sym typeface="Times New Roman"/>
              </a:rPr>
              <a:t>‘WILD SOUND’ offers a smart and non-invasive approach to monitor and identify wildlife activity near human habitats.</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AutoNum type="arabicPeriod"/>
            </a:pPr>
            <a:r>
              <a:rPr lang="en-US" sz="1600">
                <a:solidFill>
                  <a:schemeClr val="dk1"/>
                </a:solidFill>
                <a:latin typeface="Times New Roman"/>
                <a:ea typeface="Times New Roman"/>
                <a:cs typeface="Times New Roman"/>
                <a:sym typeface="Times New Roman"/>
              </a:rPr>
              <a:t>It enhances safety by providing real-time detection and species-specific deterrence using most sustainable and efficient repellent system.</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AutoNum type="arabicPeriod"/>
            </a:pPr>
            <a:r>
              <a:rPr lang="en-US" sz="1600">
                <a:solidFill>
                  <a:schemeClr val="dk1"/>
                </a:solidFill>
                <a:latin typeface="Times New Roman"/>
                <a:ea typeface="Times New Roman"/>
                <a:cs typeface="Times New Roman"/>
                <a:sym typeface="Times New Roman"/>
              </a:rPr>
              <a:t>The system also includes alert mechanisms to inform authorities or locals instantly, enabling timely intervention and thus avoiding any dangers .</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AutoNum type="arabicPeriod"/>
            </a:pPr>
            <a:r>
              <a:rPr lang="en-US" sz="1600">
                <a:solidFill>
                  <a:schemeClr val="dk1"/>
                </a:solidFill>
                <a:latin typeface="Times New Roman"/>
                <a:ea typeface="Times New Roman"/>
                <a:cs typeface="Times New Roman"/>
                <a:sym typeface="Times New Roman"/>
              </a:rPr>
              <a:t>Overall, it supports coexistence between humans and wildlife while contributing to conservation and reducing crop losses.</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188200" y="1557407"/>
            <a:ext cx="8434800" cy="5192100"/>
          </a:xfrm>
          <a:prstGeom prst="rect">
            <a:avLst/>
          </a:prstGeom>
        </p:spPr>
        <p:txBody>
          <a:bodyPr anchorCtr="0" anchor="t" bIns="0" lIns="0" spcFirstLastPara="1" rIns="0" wrap="square" tIns="0">
            <a:noAutofit/>
          </a:bodyPr>
          <a:lstStyle/>
          <a:p>
            <a:pPr indent="0" lvl="0" marL="0" rtl="0" algn="just">
              <a:lnSpc>
                <a:spcPct val="150000"/>
              </a:lnSpc>
              <a:spcBef>
                <a:spcPts val="0"/>
              </a:spcBef>
              <a:spcAft>
                <a:spcPts val="0"/>
              </a:spcAft>
              <a:buNone/>
            </a:pPr>
            <a:r>
              <a:rPr b="1" lang="en-US" sz="2800">
                <a:latin typeface="Times New Roman"/>
                <a:ea typeface="Times New Roman"/>
                <a:cs typeface="Times New Roman"/>
                <a:sym typeface="Times New Roman"/>
              </a:rPr>
              <a:t>References</a:t>
            </a:r>
            <a:endParaRPr b="1" sz="1600">
              <a:latin typeface="Times New Roman"/>
              <a:ea typeface="Times New Roman"/>
              <a:cs typeface="Times New Roman"/>
              <a:sym typeface="Times New Roman"/>
            </a:endParaRPr>
          </a:p>
          <a:p>
            <a:pPr indent="-330200" lvl="0" marL="457200" rtl="0" algn="just">
              <a:lnSpc>
                <a:spcPct val="115000"/>
              </a:lnSpc>
              <a:spcBef>
                <a:spcPts val="1200"/>
              </a:spcBef>
              <a:spcAft>
                <a:spcPts val="0"/>
              </a:spcAft>
              <a:buSzPts val="1600"/>
              <a:buAutoNum type="arabicPeriod"/>
            </a:pPr>
            <a:r>
              <a:rPr lang="en-US" sz="1600">
                <a:latin typeface="Times New Roman"/>
                <a:ea typeface="Times New Roman"/>
                <a:cs typeface="Times New Roman"/>
                <a:sym typeface="Times New Roman"/>
              </a:rPr>
              <a:t>Dissanayake, C. M. (2023). </a:t>
            </a:r>
            <a:r>
              <a:rPr i="1" lang="en-US" sz="1600">
                <a:latin typeface="Times New Roman"/>
                <a:ea typeface="Times New Roman"/>
                <a:cs typeface="Times New Roman"/>
                <a:sym typeface="Times New Roman"/>
              </a:rPr>
              <a:t>Sound Analysis-Based Animal Recognition and Repel System for Agriculture</a:t>
            </a:r>
            <a:r>
              <a:rPr lang="en-US" sz="1600">
                <a:latin typeface="Times New Roman"/>
                <a:ea typeface="Times New Roman"/>
                <a:cs typeface="Times New Roman"/>
                <a:sym typeface="Times New Roman"/>
              </a:rPr>
              <a:t>. In 2023 Moratuwa Engineering Research Conference (MERCon), IEEE.</a:t>
            </a:r>
            <a:endParaRPr sz="1600">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sz="1600">
              <a:latin typeface="Times New Roman"/>
              <a:ea typeface="Times New Roman"/>
              <a:cs typeface="Times New Roman"/>
              <a:sym typeface="Times New Roman"/>
            </a:endParaRPr>
          </a:p>
          <a:p>
            <a:pPr indent="-330200" lvl="0" marL="457200" rtl="0" algn="just">
              <a:lnSpc>
                <a:spcPct val="115000"/>
              </a:lnSpc>
              <a:spcBef>
                <a:spcPts val="1200"/>
              </a:spcBef>
              <a:spcAft>
                <a:spcPts val="0"/>
              </a:spcAft>
              <a:buSzPts val="1600"/>
              <a:buAutoNum type="arabicPeriod"/>
            </a:pPr>
            <a:r>
              <a:rPr lang="en-US" sz="1600">
                <a:latin typeface="Times New Roman"/>
                <a:ea typeface="Times New Roman"/>
                <a:cs typeface="Times New Roman"/>
                <a:sym typeface="Times New Roman"/>
              </a:rPr>
              <a:t>K. Anand, G. Srimathi, and R. Srimathy, "Integrated Wildlife Monitoring System for Real-Time Anti-Poaching and Conservation," </a:t>
            </a:r>
            <a:r>
              <a:rPr i="1" lang="en-US" sz="1600">
                <a:latin typeface="Times New Roman"/>
                <a:ea typeface="Times New Roman"/>
                <a:cs typeface="Times New Roman"/>
                <a:sym typeface="Times New Roman"/>
              </a:rPr>
              <a:t>2024 International Conference on Innovative Computing, Intelligent Communication and Smart Electrical Systems (ICSES)</a:t>
            </a:r>
            <a:r>
              <a:rPr lang="en-US" sz="1600">
                <a:latin typeface="Times New Roman"/>
                <a:ea typeface="Times New Roman"/>
                <a:cs typeface="Times New Roman"/>
                <a:sym typeface="Times New Roman"/>
              </a:rPr>
              <a:t>, Chennai, India, 2024</a:t>
            </a:r>
            <a:endParaRPr sz="1600">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sz="1600">
              <a:latin typeface="Times New Roman"/>
              <a:ea typeface="Times New Roman"/>
              <a:cs typeface="Times New Roman"/>
              <a:sym typeface="Times New Roman"/>
            </a:endParaRPr>
          </a:p>
          <a:p>
            <a:pPr indent="-330200" lvl="0" marL="457200" rtl="0" algn="just">
              <a:lnSpc>
                <a:spcPct val="115000"/>
              </a:lnSpc>
              <a:spcBef>
                <a:spcPts val="1200"/>
              </a:spcBef>
              <a:spcAft>
                <a:spcPts val="0"/>
              </a:spcAft>
              <a:buSzPts val="1600"/>
              <a:buFont typeface="Times New Roman"/>
              <a:buAutoNum type="arabicPeriod"/>
            </a:pPr>
            <a:r>
              <a:rPr lang="en-US" sz="1600">
                <a:latin typeface="Times New Roman"/>
                <a:ea typeface="Times New Roman"/>
                <a:cs typeface="Times New Roman"/>
                <a:sym typeface="Times New Roman"/>
              </a:rPr>
              <a:t>J. Chappidi and D. M. Sundaram, "Animal Intrusion Detection System using YOLO v11," in Proc. 2025 Int. Conf. Recent Advances in Electrical, Electronics, Ubiquitous Communication, and Computational Intelligence, 2025, doi: 10.1109/RAEEUCCI63961.2025.11048278.</a:t>
            </a:r>
            <a:endParaRPr sz="1600">
              <a:latin typeface="Times New Roman"/>
              <a:ea typeface="Times New Roman"/>
              <a:cs typeface="Times New Roman"/>
              <a:sym typeface="Times New Roman"/>
            </a:endParaRPr>
          </a:p>
          <a:p>
            <a:pPr indent="0" lvl="0" marL="457200" rtl="0" algn="just">
              <a:lnSpc>
                <a:spcPct val="150000"/>
              </a:lnSpc>
              <a:spcBef>
                <a:spcPts val="1200"/>
              </a:spcBef>
              <a:spcAft>
                <a:spcPts val="0"/>
              </a:spcAft>
              <a:buNone/>
            </a:pPr>
            <a:r>
              <a:t/>
            </a:r>
            <a:endParaRPr sz="1600">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1100"/>
              <a:buFont typeface="Arial"/>
              <a:buNone/>
            </a:pPr>
            <a:r>
              <a:t/>
            </a:r>
            <a:endParaRPr sz="1600" u="sng">
              <a:solidFill>
                <a:schemeClr val="hlink"/>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p>
            <a:pPr indent="0" lvl="0" marL="0" rtl="0" algn="just">
              <a:lnSpc>
                <a:spcPct val="150000"/>
              </a:lnSpc>
              <a:spcBef>
                <a:spcPts val="1200"/>
              </a:spcBef>
              <a:spcAft>
                <a:spcPts val="0"/>
              </a:spcAft>
              <a:buNone/>
            </a:pPr>
            <a:r>
              <a:t/>
            </a:r>
            <a:endParaRPr sz="1600">
              <a:latin typeface="Times New Roman"/>
              <a:ea typeface="Times New Roman"/>
              <a:cs typeface="Times New Roman"/>
              <a:sym typeface="Times New Roman"/>
            </a:endParaRPr>
          </a:p>
        </p:txBody>
      </p:sp>
      <p:sp>
        <p:nvSpPr>
          <p:cNvPr id="207" name="Google Shape;207;p33"/>
          <p:cNvSpPr txBox="1"/>
          <p:nvPr>
            <p:ph idx="12" type="sldNum"/>
          </p:nvPr>
        </p:nvSpPr>
        <p:spPr>
          <a:xfrm>
            <a:off x="8556784" y="6333134"/>
            <a:ext cx="548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